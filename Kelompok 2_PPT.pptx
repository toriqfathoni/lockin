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18288000" cy="10287000"/>
  <p:notesSz cx="6858000" cy="9144000"/>
  <p:embeddedFontLst>
    <p:embeddedFont>
      <p:font typeface="Comfortaa Bold" charset="1" panose="00000800000000000000"/>
      <p:regular r:id="rId49"/>
    </p:embeddedFont>
    <p:embeddedFont>
      <p:font typeface="Quicksand" charset="1" panose="00000000000000000000"/>
      <p:regular r:id="rId50"/>
    </p:embeddedFont>
    <p:embeddedFont>
      <p:font typeface="Quicksand Bold" charset="1" panose="00000000000000000000"/>
      <p:regular r:id="rId51"/>
    </p:embeddedFont>
    <p:embeddedFont>
      <p:font typeface="Open Sans" charset="1" panose="020B0606030504020204"/>
      <p:regular r:id="rId55"/>
    </p:embeddedFont>
    <p:embeddedFont>
      <p:font typeface="Comfortaa" charset="1" panose="00000500000000000000"/>
      <p:regular r:id="rId9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notesMasters/notesMaster1.xml" Type="http://schemas.openxmlformats.org/officeDocument/2006/relationships/notesMaster"/><Relationship Id="rId47" Target="theme/theme2.xml" Type="http://schemas.openxmlformats.org/officeDocument/2006/relationships/theme"/><Relationship Id="rId48" Target="notesSlides/notesSlide1.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notesSlides/notesSlide2.xml" Type="http://schemas.openxmlformats.org/officeDocument/2006/relationships/notesSlide"/><Relationship Id="rId53" Target="notesSlides/notesSlide3.xml" Type="http://schemas.openxmlformats.org/officeDocument/2006/relationships/notesSlide"/><Relationship Id="rId54" Target="notesSlides/notesSlide4.xml" Type="http://schemas.openxmlformats.org/officeDocument/2006/relationships/notesSlide"/><Relationship Id="rId55" Target="fonts/font55.fntdata" Type="http://schemas.openxmlformats.org/officeDocument/2006/relationships/font"/><Relationship Id="rId56" Target="notesSlides/notesSlide5.xml" Type="http://schemas.openxmlformats.org/officeDocument/2006/relationships/notesSlide"/><Relationship Id="rId57" Target="notesSlides/notesSlide6.xml" Type="http://schemas.openxmlformats.org/officeDocument/2006/relationships/notesSlide"/><Relationship Id="rId58" Target="notesSlides/notesSlide7.xml" Type="http://schemas.openxmlformats.org/officeDocument/2006/relationships/notesSlide"/><Relationship Id="rId59" Target="notesSlides/notesSlide8.xml" Type="http://schemas.openxmlformats.org/officeDocument/2006/relationships/notesSlide"/><Relationship Id="rId6" Target="slides/slide1.xml" Type="http://schemas.openxmlformats.org/officeDocument/2006/relationships/slide"/><Relationship Id="rId60" Target="notesSlides/notesSlide9.xml" Type="http://schemas.openxmlformats.org/officeDocument/2006/relationships/notesSlide"/><Relationship Id="rId61" Target="notesSlides/notesSlide10.xml" Type="http://schemas.openxmlformats.org/officeDocument/2006/relationships/notesSlide"/><Relationship Id="rId62" Target="notesSlides/notesSlide11.xml" Type="http://schemas.openxmlformats.org/officeDocument/2006/relationships/notesSlide"/><Relationship Id="rId63" Target="notesSlides/notesSlide12.xml" Type="http://schemas.openxmlformats.org/officeDocument/2006/relationships/notesSlide"/><Relationship Id="rId64" Target="notesSlides/notesSlide13.xml" Type="http://schemas.openxmlformats.org/officeDocument/2006/relationships/notesSlide"/><Relationship Id="rId65" Target="notesSlides/notesSlide14.xml" Type="http://schemas.openxmlformats.org/officeDocument/2006/relationships/notesSlide"/><Relationship Id="rId66" Target="notesSlides/notesSlide15.xml" Type="http://schemas.openxmlformats.org/officeDocument/2006/relationships/notesSlide"/><Relationship Id="rId67" Target="notesSlides/notesSlide16.xml" Type="http://schemas.openxmlformats.org/officeDocument/2006/relationships/notesSlide"/><Relationship Id="rId68" Target="notesSlides/notesSlide17.xml" Type="http://schemas.openxmlformats.org/officeDocument/2006/relationships/notesSlide"/><Relationship Id="rId69" Target="notesSlides/notesSlide18.xml" Type="http://schemas.openxmlformats.org/officeDocument/2006/relationships/notesSlide"/><Relationship Id="rId7" Target="slides/slide2.xml" Type="http://schemas.openxmlformats.org/officeDocument/2006/relationships/slide"/><Relationship Id="rId70" Target="notesSlides/notesSlide19.xml" Type="http://schemas.openxmlformats.org/officeDocument/2006/relationships/notesSlide"/><Relationship Id="rId71" Target="notesSlides/notesSlide20.xml" Type="http://schemas.openxmlformats.org/officeDocument/2006/relationships/notesSlide"/><Relationship Id="rId72" Target="notesSlides/notesSlide21.xml" Type="http://schemas.openxmlformats.org/officeDocument/2006/relationships/notesSlide"/><Relationship Id="rId73" Target="notesSlides/notesSlide22.xml" Type="http://schemas.openxmlformats.org/officeDocument/2006/relationships/notesSlide"/><Relationship Id="rId74" Target="notesSlides/notesSlide23.xml" Type="http://schemas.openxmlformats.org/officeDocument/2006/relationships/notesSlide"/><Relationship Id="rId75" Target="notesSlides/notesSlide24.xml" Type="http://schemas.openxmlformats.org/officeDocument/2006/relationships/notesSlide"/><Relationship Id="rId76" Target="notesSlides/notesSlide25.xml" Type="http://schemas.openxmlformats.org/officeDocument/2006/relationships/notesSlide"/><Relationship Id="rId77" Target="notesSlides/notesSlide26.xml" Type="http://schemas.openxmlformats.org/officeDocument/2006/relationships/notesSlide"/><Relationship Id="rId78" Target="notesSlides/notesSlide27.xml" Type="http://schemas.openxmlformats.org/officeDocument/2006/relationships/notesSlide"/><Relationship Id="rId79" Target="notesSlides/notesSlide28.xml" Type="http://schemas.openxmlformats.org/officeDocument/2006/relationships/notesSlide"/><Relationship Id="rId8" Target="slides/slide3.xml" Type="http://schemas.openxmlformats.org/officeDocument/2006/relationships/slide"/><Relationship Id="rId80" Target="notesSlides/notesSlide29.xml" Type="http://schemas.openxmlformats.org/officeDocument/2006/relationships/notesSlide"/><Relationship Id="rId81" Target="notesSlides/notesSlide30.xml" Type="http://schemas.openxmlformats.org/officeDocument/2006/relationships/notesSlide"/><Relationship Id="rId82" Target="notesSlides/notesSlide31.xml" Type="http://schemas.openxmlformats.org/officeDocument/2006/relationships/notesSlide"/><Relationship Id="rId83" Target="notesSlides/notesSlide32.xml" Type="http://schemas.openxmlformats.org/officeDocument/2006/relationships/notesSlide"/><Relationship Id="rId84" Target="notesSlides/notesSlide33.xml" Type="http://schemas.openxmlformats.org/officeDocument/2006/relationships/notesSlide"/><Relationship Id="rId85" Target="notesSlides/notesSlide34.xml" Type="http://schemas.openxmlformats.org/officeDocument/2006/relationships/notesSlide"/><Relationship Id="rId86" Target="notesSlides/notesSlide35.xml" Type="http://schemas.openxmlformats.org/officeDocument/2006/relationships/notesSlide"/><Relationship Id="rId87" Target="notesSlides/notesSlide36.xml" Type="http://schemas.openxmlformats.org/officeDocument/2006/relationships/notesSlide"/><Relationship Id="rId88" Target="notesSlides/notesSlide37.xml" Type="http://schemas.openxmlformats.org/officeDocument/2006/relationships/notesSlide"/><Relationship Id="rId89" Target="notesSlides/notesSlide38.xml" Type="http://schemas.openxmlformats.org/officeDocument/2006/relationships/notesSlide"/><Relationship Id="rId9" Target="slides/slide4.xml" Type="http://schemas.openxmlformats.org/officeDocument/2006/relationships/slide"/><Relationship Id="rId90" Target="notesSlides/notesSlide39.xml" Type="http://schemas.openxmlformats.org/officeDocument/2006/relationships/notesSlide"/><Relationship Id="rId91" Target="notesSlides/notesSlide40.xml" Type="http://schemas.openxmlformats.org/officeDocument/2006/relationships/notesSlide"/><Relationship Id="rId92" Target="fonts/font92.fntdata" Type="http://schemas.openxmlformats.org/officeDocument/2006/relationships/font"/></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0.jpeg" Type="http://schemas.openxmlformats.org/officeDocument/2006/relationships/image"/><Relationship Id="rId6"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10.jpeg" Type="http://schemas.openxmlformats.org/officeDocument/2006/relationships/image"/><Relationship Id="rId5" Target="../media/image13.png" Type="http://schemas.openxmlformats.org/officeDocument/2006/relationships/image"/><Relationship Id="rId6" Target="https://drive.google.com/file/d/1WaKSjSgXJlDNApAZtroyRtXixI12lgK0/view?usp=sharing"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10.jpeg" Type="http://schemas.openxmlformats.org/officeDocument/2006/relationships/image"/><Relationship Id="rId5" Target="../media/image14.png" Type="http://schemas.openxmlformats.org/officeDocument/2006/relationships/image"/><Relationship Id="rId6" Target="https://drive.google.com/file/d/1A-vTuINKaVAa68dYHhK7q9tBSOaBNC1H/view?usp=sharing"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10.jpeg" Type="http://schemas.openxmlformats.org/officeDocument/2006/relationships/image"/><Relationship Id="rId5"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2" Target="../notesSlides/notesSlide7.xml" Type="http://schemas.openxmlformats.org/officeDocument/2006/relationships/notesSlide"/><Relationship Id="rId3" Target="../media/image1.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20.png" Type="http://schemas.openxmlformats.org/officeDocument/2006/relationships/image"/><Relationship Id="rId9"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10.jpeg" Type="http://schemas.openxmlformats.org/officeDocument/2006/relationships/image"/><Relationship Id="rId9" Target="../media/image2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3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3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3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4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4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4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10.jpeg" Type="http://schemas.openxmlformats.org/officeDocument/2006/relationships/image"/><Relationship Id="rId6" Target="../media/image4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png" Type="http://schemas.openxmlformats.org/officeDocument/2006/relationships/image"/><Relationship Id="rId4" Target="../media/image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44.png" Type="http://schemas.openxmlformats.org/officeDocument/2006/relationships/image"/><Relationship Id="rId6" Target="../media/image10.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1.png" Type="http://schemas.openxmlformats.org/officeDocument/2006/relationships/image"/><Relationship Id="rId4" Target="../media/image45.png" Type="http://schemas.openxmlformats.org/officeDocument/2006/relationships/image"/><Relationship Id="rId5" Target="https://github.com/ToriqFathoni/LockIn"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288"/>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6072188" y="6086475"/>
            <a:ext cx="6143625" cy="2423958"/>
            <a:chOff x="0" y="0"/>
            <a:chExt cx="8191500" cy="3231944"/>
          </a:xfrm>
        </p:grpSpPr>
        <p:sp>
          <p:nvSpPr>
            <p:cNvPr name="Freeform 5" id="5" descr="image.png"/>
            <p:cNvSpPr/>
            <p:nvPr/>
          </p:nvSpPr>
          <p:spPr>
            <a:xfrm flipH="false" flipV="false" rot="0">
              <a:off x="0" y="0"/>
              <a:ext cx="8191500" cy="3231944"/>
            </a:xfrm>
            <a:custGeom>
              <a:avLst/>
              <a:gdLst/>
              <a:ahLst/>
              <a:cxnLst/>
              <a:rect r="r" b="b" t="t" l="l"/>
              <a:pathLst>
                <a:path h="3231944" w="8191500">
                  <a:moveTo>
                    <a:pt x="0" y="0"/>
                  </a:moveTo>
                  <a:lnTo>
                    <a:pt x="8191500" y="0"/>
                  </a:lnTo>
                  <a:lnTo>
                    <a:pt x="8191500" y="3231944"/>
                  </a:lnTo>
                  <a:lnTo>
                    <a:pt x="0" y="3231944"/>
                  </a:lnTo>
                  <a:lnTo>
                    <a:pt x="0" y="0"/>
                  </a:lnTo>
                  <a:close/>
                </a:path>
              </a:pathLst>
            </a:custGeom>
            <a:blipFill>
              <a:blip r:embed="rId4"/>
              <a:stretch>
                <a:fillRect l="0" t="-1869" r="0" b="-1869"/>
              </a:stretch>
            </a:blipFill>
          </p:spPr>
        </p:sp>
      </p:grpSp>
      <p:sp>
        <p:nvSpPr>
          <p:cNvPr name="Freeform 6" id="6"/>
          <p:cNvSpPr/>
          <p:nvPr/>
        </p:nvSpPr>
        <p:spPr>
          <a:xfrm flipH="false" flipV="false" rot="0">
            <a:off x="8143875" y="2112401"/>
            <a:ext cx="2000250" cy="2000250"/>
          </a:xfrm>
          <a:custGeom>
            <a:avLst/>
            <a:gdLst/>
            <a:ahLst/>
            <a:cxnLst/>
            <a:rect r="r" b="b" t="t" l="l"/>
            <a:pathLst>
              <a:path h="2000250" w="2000250">
                <a:moveTo>
                  <a:pt x="0" y="0"/>
                </a:moveTo>
                <a:lnTo>
                  <a:pt x="2000250" y="0"/>
                </a:lnTo>
                <a:lnTo>
                  <a:pt x="2000250" y="2000250"/>
                </a:lnTo>
                <a:lnTo>
                  <a:pt x="0" y="2000250"/>
                </a:lnTo>
                <a:lnTo>
                  <a:pt x="0" y="0"/>
                </a:lnTo>
                <a:close/>
              </a:path>
            </a:pathLst>
          </a:custGeom>
          <a:blipFill>
            <a:blip r:embed="rId5"/>
            <a:stretch>
              <a:fillRect l="0" t="0" r="0" b="0"/>
            </a:stretch>
          </a:blipFill>
        </p:spPr>
      </p:sp>
      <p:sp>
        <p:nvSpPr>
          <p:cNvPr name="TextBox 7" id="7"/>
          <p:cNvSpPr txBox="true"/>
          <p:nvPr/>
        </p:nvSpPr>
        <p:spPr>
          <a:xfrm rot="0">
            <a:off x="442912" y="3824288"/>
            <a:ext cx="17402175" cy="1162050"/>
          </a:xfrm>
          <a:prstGeom prst="rect">
            <a:avLst/>
          </a:prstGeom>
        </p:spPr>
        <p:txBody>
          <a:bodyPr anchor="t" rtlCol="false" tIns="0" lIns="0" bIns="0" rIns="0">
            <a:spAutoFit/>
          </a:bodyPr>
          <a:lstStyle/>
          <a:p>
            <a:pPr algn="ctr">
              <a:lnSpc>
                <a:spcPts val="9720"/>
              </a:lnSpc>
            </a:pPr>
            <a:r>
              <a:rPr lang="en-US" b="true" sz="8100">
                <a:solidFill>
                  <a:srgbClr val="1E293B"/>
                </a:solidFill>
                <a:latin typeface="Comfortaa Bold"/>
                <a:ea typeface="Comfortaa Bold"/>
                <a:cs typeface="Comfortaa Bold"/>
                <a:sym typeface="Comfortaa Bold"/>
              </a:rPr>
              <a:t>LockIn</a:t>
            </a:r>
          </a:p>
        </p:txBody>
      </p:sp>
      <p:sp>
        <p:nvSpPr>
          <p:cNvPr name="TextBox 8" id="8"/>
          <p:cNvSpPr txBox="true"/>
          <p:nvPr/>
        </p:nvSpPr>
        <p:spPr>
          <a:xfrm rot="0">
            <a:off x="857250" y="4938712"/>
            <a:ext cx="16573500" cy="876300"/>
          </a:xfrm>
          <a:prstGeom prst="rect">
            <a:avLst/>
          </a:prstGeom>
        </p:spPr>
        <p:txBody>
          <a:bodyPr anchor="t" rtlCol="false" tIns="0" lIns="0" bIns="0" rIns="0">
            <a:spAutoFit/>
          </a:bodyPr>
          <a:lstStyle/>
          <a:p>
            <a:pPr algn="ctr">
              <a:lnSpc>
                <a:spcPts val="6480"/>
              </a:lnSpc>
            </a:pPr>
            <a:r>
              <a:rPr lang="en-US" sz="3600">
                <a:solidFill>
                  <a:srgbClr val="8CBBED"/>
                </a:solidFill>
                <a:latin typeface="Quicksand"/>
                <a:ea typeface="Quicksand"/>
                <a:cs typeface="Quicksand"/>
                <a:sym typeface="Quicksand"/>
              </a:rPr>
              <a:t>Freelance Job Marketplace</a:t>
            </a:r>
          </a:p>
        </p:txBody>
      </p:sp>
      <p:sp>
        <p:nvSpPr>
          <p:cNvPr name="TextBox 9" id="9"/>
          <p:cNvSpPr txBox="true"/>
          <p:nvPr/>
        </p:nvSpPr>
        <p:spPr>
          <a:xfrm rot="0">
            <a:off x="8544074" y="6206647"/>
            <a:ext cx="1199852" cy="333375"/>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Anggota</a:t>
            </a:r>
          </a:p>
        </p:txBody>
      </p:sp>
      <p:sp>
        <p:nvSpPr>
          <p:cNvPr name="TextBox 10" id="10"/>
          <p:cNvSpPr txBox="true"/>
          <p:nvPr/>
        </p:nvSpPr>
        <p:spPr>
          <a:xfrm rot="0">
            <a:off x="6600825" y="6654322"/>
            <a:ext cx="5086350" cy="1361599"/>
          </a:xfrm>
          <a:prstGeom prst="rect">
            <a:avLst/>
          </a:prstGeom>
        </p:spPr>
        <p:txBody>
          <a:bodyPr anchor="t" rtlCol="false" tIns="0" lIns="0" bIns="0" rIns="0">
            <a:spAutoFit/>
          </a:bodyPr>
          <a:lstStyle/>
          <a:p>
            <a:pPr algn="ctr">
              <a:lnSpc>
                <a:spcPts val="2733"/>
              </a:lnSpc>
            </a:pPr>
            <a:r>
              <a:rPr lang="en-US" b="true" sz="2025">
                <a:solidFill>
                  <a:srgbClr val="1E293B"/>
                </a:solidFill>
                <a:latin typeface="Quicksand Bold"/>
                <a:ea typeface="Quicksand Bold"/>
                <a:cs typeface="Quicksand Bold"/>
                <a:sym typeface="Quicksand Bold"/>
              </a:rPr>
              <a:t>Satrio Atalla Rahardjo </a:t>
            </a:r>
            <a:r>
              <a:rPr lang="en-US" sz="2025">
                <a:solidFill>
                  <a:srgbClr val="64748B"/>
                </a:solidFill>
                <a:latin typeface="Quicksand"/>
                <a:ea typeface="Quicksand"/>
                <a:cs typeface="Quicksand"/>
                <a:sym typeface="Quicksand"/>
              </a:rPr>
              <a:t> (2406413666)</a:t>
            </a:r>
          </a:p>
          <a:p>
            <a:pPr algn="ctr">
              <a:lnSpc>
                <a:spcPts val="2733"/>
              </a:lnSpc>
            </a:pPr>
            <a:r>
              <a:rPr lang="en-US" b="true" sz="2025">
                <a:solidFill>
                  <a:srgbClr val="1E293B"/>
                </a:solidFill>
                <a:latin typeface="Quicksand Bold"/>
                <a:ea typeface="Quicksand Bold"/>
                <a:cs typeface="Quicksand Bold"/>
                <a:sym typeface="Quicksand Bold"/>
              </a:rPr>
              <a:t>Fernanda Raeka YP </a:t>
            </a:r>
            <a:r>
              <a:rPr lang="en-US" sz="2025">
                <a:solidFill>
                  <a:srgbClr val="64748B"/>
                </a:solidFill>
                <a:latin typeface="Quicksand"/>
                <a:ea typeface="Quicksand"/>
                <a:cs typeface="Quicksand"/>
                <a:sym typeface="Quicksand"/>
              </a:rPr>
              <a:t>(2406415791) </a:t>
            </a:r>
          </a:p>
          <a:p>
            <a:pPr algn="ctr">
              <a:lnSpc>
                <a:spcPts val="2733"/>
              </a:lnSpc>
            </a:pPr>
            <a:r>
              <a:rPr lang="en-US" b="true" sz="2025">
                <a:solidFill>
                  <a:srgbClr val="000000"/>
                </a:solidFill>
                <a:latin typeface="Quicksand Bold"/>
                <a:ea typeface="Quicksand Bold"/>
                <a:cs typeface="Quicksand Bold"/>
                <a:sym typeface="Quicksand Bold"/>
              </a:rPr>
              <a:t>Steven </a:t>
            </a:r>
            <a:r>
              <a:rPr lang="en-US" sz="2025">
                <a:solidFill>
                  <a:srgbClr val="64748B"/>
                </a:solidFill>
                <a:latin typeface="Quicksand"/>
                <a:ea typeface="Quicksand"/>
                <a:cs typeface="Quicksand"/>
                <a:sym typeface="Quicksand"/>
              </a:rPr>
              <a:t>(2406359600)</a:t>
            </a:r>
          </a:p>
          <a:p>
            <a:pPr algn="ctr">
              <a:lnSpc>
                <a:spcPts val="2733"/>
              </a:lnSpc>
            </a:pPr>
            <a:r>
              <a:rPr lang="en-US" b="true" sz="2025">
                <a:solidFill>
                  <a:srgbClr val="000000"/>
                </a:solidFill>
                <a:latin typeface="Quicksand Bold"/>
                <a:ea typeface="Quicksand Bold"/>
                <a:cs typeface="Quicksand Bold"/>
                <a:sym typeface="Quicksand Bold"/>
              </a:rPr>
              <a:t>Toriq Fathoni Dezi</a:t>
            </a:r>
            <a:r>
              <a:rPr lang="en-US" b="true" sz="2025">
                <a:solidFill>
                  <a:srgbClr val="64748B"/>
                </a:solidFill>
                <a:latin typeface="Quicksand Bold"/>
                <a:ea typeface="Quicksand Bold"/>
                <a:cs typeface="Quicksand Bold"/>
                <a:sym typeface="Quicksand Bold"/>
              </a:rPr>
              <a:t> </a:t>
            </a:r>
            <a:r>
              <a:rPr lang="en-US" sz="2025">
                <a:solidFill>
                  <a:srgbClr val="64748B"/>
                </a:solidFill>
                <a:latin typeface="Quicksand"/>
                <a:ea typeface="Quicksand"/>
                <a:cs typeface="Quicksand"/>
                <a:sym typeface="Quicksand"/>
              </a:rPr>
              <a:t>(2406487115)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3000375"/>
            <a:ext cx="8001000" cy="5614988"/>
            <a:chOff x="0" y="0"/>
            <a:chExt cx="10668000" cy="7486650"/>
          </a:xfrm>
        </p:grpSpPr>
        <p:sp>
          <p:nvSpPr>
            <p:cNvPr name="Freeform 5" id="5" descr="image.png"/>
            <p:cNvSpPr/>
            <p:nvPr/>
          </p:nvSpPr>
          <p:spPr>
            <a:xfrm flipH="false" flipV="false" rot="0">
              <a:off x="0" y="0"/>
              <a:ext cx="10668000" cy="7486650"/>
            </a:xfrm>
            <a:custGeom>
              <a:avLst/>
              <a:gdLst/>
              <a:ahLst/>
              <a:cxnLst/>
              <a:rect r="r" b="b" t="t" l="l"/>
              <a:pathLst>
                <a:path h="7486650" w="10668000">
                  <a:moveTo>
                    <a:pt x="0" y="0"/>
                  </a:moveTo>
                  <a:lnTo>
                    <a:pt x="10668000" y="0"/>
                  </a:lnTo>
                  <a:lnTo>
                    <a:pt x="10668000" y="7486650"/>
                  </a:lnTo>
                  <a:lnTo>
                    <a:pt x="0" y="7486650"/>
                  </a:lnTo>
                  <a:lnTo>
                    <a:pt x="0" y="0"/>
                  </a:lnTo>
                  <a:close/>
                </a:path>
              </a:pathLst>
            </a:custGeom>
            <a:blipFill>
              <a:blip r:embed="rId4"/>
              <a:stretch>
                <a:fillRect l="0" t="0" r="0" b="0"/>
              </a:stretch>
            </a:blipFill>
          </p:spPr>
        </p:sp>
      </p:grpSp>
      <p:grpSp>
        <p:nvGrpSpPr>
          <p:cNvPr name="Group 6" id="6"/>
          <p:cNvGrpSpPr/>
          <p:nvPr/>
        </p:nvGrpSpPr>
        <p:grpSpPr>
          <a:xfrm rot="0">
            <a:off x="9429750" y="3000375"/>
            <a:ext cx="8001000" cy="5614988"/>
            <a:chOff x="0" y="0"/>
            <a:chExt cx="10668000" cy="7486650"/>
          </a:xfrm>
        </p:grpSpPr>
        <p:sp>
          <p:nvSpPr>
            <p:cNvPr name="Freeform 7" id="7" descr="image.png"/>
            <p:cNvSpPr/>
            <p:nvPr/>
          </p:nvSpPr>
          <p:spPr>
            <a:xfrm flipH="false" flipV="false" rot="0">
              <a:off x="0" y="0"/>
              <a:ext cx="10668000" cy="7486650"/>
            </a:xfrm>
            <a:custGeom>
              <a:avLst/>
              <a:gdLst/>
              <a:ahLst/>
              <a:cxnLst/>
              <a:rect r="r" b="b" t="t" l="l"/>
              <a:pathLst>
                <a:path h="7486650" w="10668000">
                  <a:moveTo>
                    <a:pt x="0" y="0"/>
                  </a:moveTo>
                  <a:lnTo>
                    <a:pt x="10668000" y="0"/>
                  </a:lnTo>
                  <a:lnTo>
                    <a:pt x="10668000" y="7486650"/>
                  </a:lnTo>
                  <a:lnTo>
                    <a:pt x="0" y="7486650"/>
                  </a:lnTo>
                  <a:lnTo>
                    <a:pt x="0" y="0"/>
                  </a:lnTo>
                  <a:close/>
                </a:path>
              </a:pathLst>
            </a:custGeom>
            <a:blipFill>
              <a:blip r:embed="rId5"/>
              <a:stretch>
                <a:fillRect l="0" t="0" r="0" b="0"/>
              </a:stretch>
            </a:blipFill>
          </p:spPr>
        </p:sp>
      </p:grpSp>
      <p:grpSp>
        <p:nvGrpSpPr>
          <p:cNvPr name="Group 8" id="8"/>
          <p:cNvGrpSpPr/>
          <p:nvPr/>
        </p:nvGrpSpPr>
        <p:grpSpPr>
          <a:xfrm rot="0">
            <a:off x="1385888" y="3529012"/>
            <a:ext cx="1000125" cy="1000125"/>
            <a:chOff x="0" y="0"/>
            <a:chExt cx="1333500" cy="1333500"/>
          </a:xfrm>
        </p:grpSpPr>
        <p:sp>
          <p:nvSpPr>
            <p:cNvPr name="Freeform 9" id="9" descr="image.png"/>
            <p:cNvSpPr/>
            <p:nvPr/>
          </p:nvSpPr>
          <p:spPr>
            <a:xfrm flipH="false" flipV="false" rot="0">
              <a:off x="0" y="0"/>
              <a:ext cx="1333500" cy="1333500"/>
            </a:xfrm>
            <a:custGeom>
              <a:avLst/>
              <a:gdLst/>
              <a:ahLst/>
              <a:cxnLst/>
              <a:rect r="r" b="b" t="t" l="l"/>
              <a:pathLst>
                <a:path h="1333500" w="1333500">
                  <a:moveTo>
                    <a:pt x="0" y="0"/>
                  </a:moveTo>
                  <a:lnTo>
                    <a:pt x="1333500" y="0"/>
                  </a:lnTo>
                  <a:lnTo>
                    <a:pt x="1333500" y="1333500"/>
                  </a:lnTo>
                  <a:lnTo>
                    <a:pt x="0" y="1333500"/>
                  </a:lnTo>
                  <a:lnTo>
                    <a:pt x="0" y="0"/>
                  </a:lnTo>
                  <a:close/>
                </a:path>
              </a:pathLst>
            </a:custGeom>
            <a:blipFill>
              <a:blip r:embed="rId6"/>
              <a:stretch>
                <a:fillRect l="0" t="0" r="0" b="0"/>
              </a:stretch>
            </a:blipFill>
          </p:spPr>
        </p:sp>
      </p:grpSp>
      <p:sp>
        <p:nvSpPr>
          <p:cNvPr name="TextBox 10" id="10"/>
          <p:cNvSpPr txBox="true"/>
          <p:nvPr/>
        </p:nvSpPr>
        <p:spPr>
          <a:xfrm rot="0">
            <a:off x="1385888" y="4795838"/>
            <a:ext cx="7290911" cy="304800"/>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Skenario Proyek</a:t>
            </a:r>
          </a:p>
        </p:txBody>
      </p:sp>
      <p:sp>
        <p:nvSpPr>
          <p:cNvPr name="TextBox 11" id="11"/>
          <p:cNvSpPr txBox="true"/>
          <p:nvPr/>
        </p:nvSpPr>
        <p:spPr>
          <a:xfrm rot="0">
            <a:off x="1385888" y="5243513"/>
            <a:ext cx="7110535" cy="2251651"/>
          </a:xfrm>
          <a:prstGeom prst="rect">
            <a:avLst/>
          </a:prstGeom>
        </p:spPr>
        <p:txBody>
          <a:bodyPr anchor="t" rtlCol="false" tIns="0" lIns="0" bIns="0" rIns="0">
            <a:spAutoFit/>
          </a:bodyPr>
          <a:lstStyle/>
          <a:p>
            <a:pPr algn="l">
              <a:lnSpc>
                <a:spcPts val="4562"/>
              </a:lnSpc>
            </a:pPr>
            <a:r>
              <a:rPr lang="en-US" sz="2534">
                <a:solidFill>
                  <a:srgbClr val="64748B"/>
                </a:solidFill>
                <a:latin typeface="Quicksand"/>
                <a:ea typeface="Quicksand"/>
                <a:cs typeface="Quicksand"/>
                <a:sym typeface="Quicksand"/>
              </a:rPr>
              <a:t>LockIn diciptakan sebagai wadah bagi freelancer untuk bekerja secara serius (100% fokus) dengan sistem keamanan yang menjamin hak pekerja dan pemberi kerja.</a:t>
            </a:r>
          </a:p>
        </p:txBody>
      </p:sp>
      <p:grpSp>
        <p:nvGrpSpPr>
          <p:cNvPr name="Group 12" id="12"/>
          <p:cNvGrpSpPr/>
          <p:nvPr/>
        </p:nvGrpSpPr>
        <p:grpSpPr>
          <a:xfrm rot="0">
            <a:off x="9958388" y="3529012"/>
            <a:ext cx="1000125" cy="1000125"/>
            <a:chOff x="0" y="0"/>
            <a:chExt cx="1333500" cy="1333500"/>
          </a:xfrm>
        </p:grpSpPr>
        <p:sp>
          <p:nvSpPr>
            <p:cNvPr name="Freeform 13" id="13" descr="image.png"/>
            <p:cNvSpPr/>
            <p:nvPr/>
          </p:nvSpPr>
          <p:spPr>
            <a:xfrm flipH="false" flipV="false" rot="0">
              <a:off x="0" y="0"/>
              <a:ext cx="1333500" cy="1333500"/>
            </a:xfrm>
            <a:custGeom>
              <a:avLst/>
              <a:gdLst/>
              <a:ahLst/>
              <a:cxnLst/>
              <a:rect r="r" b="b" t="t" l="l"/>
              <a:pathLst>
                <a:path h="1333500" w="1333500">
                  <a:moveTo>
                    <a:pt x="0" y="0"/>
                  </a:moveTo>
                  <a:lnTo>
                    <a:pt x="1333500" y="0"/>
                  </a:lnTo>
                  <a:lnTo>
                    <a:pt x="1333500" y="1333500"/>
                  </a:lnTo>
                  <a:lnTo>
                    <a:pt x="0" y="1333500"/>
                  </a:lnTo>
                  <a:lnTo>
                    <a:pt x="0" y="0"/>
                  </a:lnTo>
                  <a:close/>
                </a:path>
              </a:pathLst>
            </a:custGeom>
            <a:blipFill>
              <a:blip r:embed="rId7"/>
              <a:stretch>
                <a:fillRect l="0" t="0" r="0" b="0"/>
              </a:stretch>
            </a:blipFill>
          </p:spPr>
        </p:sp>
      </p:grpSp>
      <p:sp>
        <p:nvSpPr>
          <p:cNvPr name="TextBox 14" id="14"/>
          <p:cNvSpPr txBox="true"/>
          <p:nvPr/>
        </p:nvSpPr>
        <p:spPr>
          <a:xfrm rot="0">
            <a:off x="9958388" y="4795838"/>
            <a:ext cx="1926580" cy="333375"/>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2 User Utama</a:t>
            </a:r>
          </a:p>
        </p:txBody>
      </p:sp>
      <p:sp>
        <p:nvSpPr>
          <p:cNvPr name="TextBox 15" id="15"/>
          <p:cNvSpPr txBox="true"/>
          <p:nvPr/>
        </p:nvSpPr>
        <p:spPr>
          <a:xfrm rot="0">
            <a:off x="9958388" y="5310188"/>
            <a:ext cx="7039207" cy="1525652"/>
          </a:xfrm>
          <a:prstGeom prst="rect">
            <a:avLst/>
          </a:prstGeom>
        </p:spPr>
        <p:txBody>
          <a:bodyPr anchor="t" rtlCol="false" tIns="0" lIns="0" bIns="0" rIns="0">
            <a:spAutoFit/>
          </a:bodyPr>
          <a:lstStyle/>
          <a:p>
            <a:pPr algn="l">
              <a:lnSpc>
                <a:spcPts val="4139"/>
              </a:lnSpc>
            </a:pPr>
            <a:r>
              <a:rPr lang="en-US" b="true" sz="2509">
                <a:solidFill>
                  <a:srgbClr val="1E293B"/>
                </a:solidFill>
                <a:latin typeface="Quicksand Bold"/>
                <a:ea typeface="Quicksand Bold"/>
                <a:cs typeface="Quicksand Bold"/>
                <a:sym typeface="Quicksand Bold"/>
              </a:rPr>
              <a:t>Freelancer:</a:t>
            </a:r>
            <a:r>
              <a:rPr lang="en-US" sz="2509">
                <a:solidFill>
                  <a:srgbClr val="64748B"/>
                </a:solidFill>
                <a:latin typeface="Quicksand"/>
                <a:ea typeface="Quicksand"/>
                <a:cs typeface="Quicksand"/>
                <a:sym typeface="Quicksand"/>
              </a:rPr>
              <a:t> Mencari dan mengerjakan proyek.</a:t>
            </a:r>
          </a:p>
          <a:p>
            <a:pPr algn="l">
              <a:lnSpc>
                <a:spcPts val="4139"/>
              </a:lnSpc>
            </a:pPr>
            <a:r>
              <a:rPr lang="en-US" b="true" sz="2509">
                <a:solidFill>
                  <a:srgbClr val="1E293B"/>
                </a:solidFill>
                <a:latin typeface="Quicksand Bold"/>
                <a:ea typeface="Quicksand Bold"/>
                <a:cs typeface="Quicksand Bold"/>
                <a:sym typeface="Quicksand Bold"/>
              </a:rPr>
              <a:t>Client:</a:t>
            </a:r>
            <a:r>
              <a:rPr lang="en-US" sz="2509">
                <a:solidFill>
                  <a:srgbClr val="64748B"/>
                </a:solidFill>
                <a:latin typeface="Quicksand"/>
                <a:ea typeface="Quicksand"/>
                <a:cs typeface="Quicksand"/>
                <a:sym typeface="Quicksand"/>
              </a:rPr>
              <a:t> Memposting lowongan, mengelola pelamar, dan memberikan review.</a:t>
            </a:r>
          </a:p>
        </p:txBody>
      </p:sp>
      <p:grpSp>
        <p:nvGrpSpPr>
          <p:cNvPr name="Group 16" id="16"/>
          <p:cNvGrpSpPr/>
          <p:nvPr/>
        </p:nvGrpSpPr>
        <p:grpSpPr>
          <a:xfrm rot="0">
            <a:off x="1714500" y="3800475"/>
            <a:ext cx="342900" cy="457200"/>
            <a:chOff x="0" y="0"/>
            <a:chExt cx="457200" cy="609600"/>
          </a:xfrm>
        </p:grpSpPr>
        <p:sp>
          <p:nvSpPr>
            <p:cNvPr name="Freeform 17" id="17" descr="image.png"/>
            <p:cNvSpPr/>
            <p:nvPr/>
          </p:nvSpPr>
          <p:spPr>
            <a:xfrm flipH="false" flipV="false" rot="0">
              <a:off x="0" y="0"/>
              <a:ext cx="457200" cy="609600"/>
            </a:xfrm>
            <a:custGeom>
              <a:avLst/>
              <a:gdLst/>
              <a:ahLst/>
              <a:cxnLst/>
              <a:rect r="r" b="b" t="t" l="l"/>
              <a:pathLst>
                <a:path h="609600" w="457200">
                  <a:moveTo>
                    <a:pt x="0" y="0"/>
                  </a:moveTo>
                  <a:lnTo>
                    <a:pt x="457200" y="0"/>
                  </a:lnTo>
                  <a:lnTo>
                    <a:pt x="457200" y="609600"/>
                  </a:lnTo>
                  <a:lnTo>
                    <a:pt x="0" y="609600"/>
                  </a:lnTo>
                  <a:lnTo>
                    <a:pt x="0" y="0"/>
                  </a:lnTo>
                  <a:close/>
                </a:path>
              </a:pathLst>
            </a:custGeom>
            <a:blipFill>
              <a:blip r:embed="rId8"/>
              <a:stretch>
                <a:fillRect l="0" t="0" r="0" b="0"/>
              </a:stretch>
            </a:blipFill>
          </p:spPr>
        </p:sp>
      </p:grpSp>
      <p:grpSp>
        <p:nvGrpSpPr>
          <p:cNvPr name="Group 18" id="18"/>
          <p:cNvGrpSpPr/>
          <p:nvPr/>
        </p:nvGrpSpPr>
        <p:grpSpPr>
          <a:xfrm rot="0">
            <a:off x="10172700" y="3800475"/>
            <a:ext cx="571500" cy="457200"/>
            <a:chOff x="0" y="0"/>
            <a:chExt cx="762000" cy="609600"/>
          </a:xfrm>
        </p:grpSpPr>
        <p:sp>
          <p:nvSpPr>
            <p:cNvPr name="Freeform 19" id="19" descr="image.png"/>
            <p:cNvSpPr/>
            <p:nvPr/>
          </p:nvSpPr>
          <p:spPr>
            <a:xfrm flipH="false" flipV="false" rot="0">
              <a:off x="0" y="0"/>
              <a:ext cx="762000" cy="609600"/>
            </a:xfrm>
            <a:custGeom>
              <a:avLst/>
              <a:gdLst/>
              <a:ahLst/>
              <a:cxnLst/>
              <a:rect r="r" b="b" t="t" l="l"/>
              <a:pathLst>
                <a:path h="609600" w="762000">
                  <a:moveTo>
                    <a:pt x="0" y="0"/>
                  </a:moveTo>
                  <a:lnTo>
                    <a:pt x="762000" y="0"/>
                  </a:lnTo>
                  <a:lnTo>
                    <a:pt x="762000" y="609600"/>
                  </a:lnTo>
                  <a:lnTo>
                    <a:pt x="0" y="609600"/>
                  </a:lnTo>
                  <a:lnTo>
                    <a:pt x="0" y="0"/>
                  </a:lnTo>
                  <a:close/>
                </a:path>
              </a:pathLst>
            </a:custGeom>
            <a:blipFill>
              <a:blip r:embed="rId9"/>
              <a:stretch>
                <a:fillRect l="0" t="0" r="0" b="0"/>
              </a:stretch>
            </a:blipFill>
          </p:spPr>
        </p:sp>
      </p:grpSp>
      <p:grpSp>
        <p:nvGrpSpPr>
          <p:cNvPr name="Group 20" id="20"/>
          <p:cNvGrpSpPr/>
          <p:nvPr/>
        </p:nvGrpSpPr>
        <p:grpSpPr>
          <a:xfrm rot="0">
            <a:off x="857250" y="857250"/>
            <a:ext cx="17402175" cy="757238"/>
            <a:chOff x="0" y="0"/>
            <a:chExt cx="23202900" cy="1009650"/>
          </a:xfrm>
        </p:grpSpPr>
        <p:sp>
          <p:nvSpPr>
            <p:cNvPr name="Freeform 21" id="21"/>
            <p:cNvSpPr/>
            <p:nvPr/>
          </p:nvSpPr>
          <p:spPr>
            <a:xfrm flipH="false" flipV="false" rot="0">
              <a:off x="0" y="0"/>
              <a:ext cx="23202900" cy="1009650"/>
            </a:xfrm>
            <a:custGeom>
              <a:avLst/>
              <a:gdLst/>
              <a:ahLst/>
              <a:cxnLst/>
              <a:rect r="r" b="b" t="t" l="l"/>
              <a:pathLst>
                <a:path h="1009650" w="23202900">
                  <a:moveTo>
                    <a:pt x="0" y="0"/>
                  </a:moveTo>
                  <a:lnTo>
                    <a:pt x="23202900" y="0"/>
                  </a:lnTo>
                  <a:lnTo>
                    <a:pt x="23202900" y="1009650"/>
                  </a:lnTo>
                  <a:lnTo>
                    <a:pt x="0" y="1009650"/>
                  </a:lnTo>
                  <a:close/>
                </a:path>
              </a:pathLst>
            </a:custGeom>
            <a:blipFill>
              <a:blip r:embed="rId10">
                <a:alphaModFix amt="0"/>
              </a:blip>
              <a:stretch>
                <a:fillRect l="0" t="-397788" r="0" b="-397788"/>
              </a:stretch>
            </a:blipFill>
          </p:spPr>
        </p:sp>
        <p:sp>
          <p:nvSpPr>
            <p:cNvPr name="TextBox 22" id="22"/>
            <p:cNvSpPr txBox="true"/>
            <p:nvPr/>
          </p:nvSpPr>
          <p:spPr>
            <a:xfrm>
              <a:off x="0" y="-9525"/>
              <a:ext cx="23202900" cy="1019175"/>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Latar Belakang &amp; Skenario</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757238"/>
            <a:chOff x="0" y="0"/>
            <a:chExt cx="23202900" cy="1009650"/>
          </a:xfrm>
        </p:grpSpPr>
        <p:sp>
          <p:nvSpPr>
            <p:cNvPr name="Freeform 7" id="7"/>
            <p:cNvSpPr/>
            <p:nvPr/>
          </p:nvSpPr>
          <p:spPr>
            <a:xfrm flipH="false" flipV="false" rot="0">
              <a:off x="0" y="0"/>
              <a:ext cx="23202900" cy="1009650"/>
            </a:xfrm>
            <a:custGeom>
              <a:avLst/>
              <a:gdLst/>
              <a:ahLst/>
              <a:cxnLst/>
              <a:rect r="r" b="b" t="t" l="l"/>
              <a:pathLst>
                <a:path h="1009650" w="23202900">
                  <a:moveTo>
                    <a:pt x="0" y="0"/>
                  </a:moveTo>
                  <a:lnTo>
                    <a:pt x="23202900" y="0"/>
                  </a:lnTo>
                  <a:lnTo>
                    <a:pt x="23202900" y="1009650"/>
                  </a:lnTo>
                  <a:lnTo>
                    <a:pt x="0" y="1009650"/>
                  </a:lnTo>
                  <a:close/>
                </a:path>
              </a:pathLst>
            </a:custGeom>
            <a:blipFill>
              <a:blip r:embed="rId5">
                <a:alphaModFix amt="0"/>
              </a:blip>
              <a:stretch>
                <a:fillRect l="0" t="-397788" r="0" b="-397788"/>
              </a:stretch>
            </a:blipFill>
          </p:spPr>
        </p:sp>
        <p:sp>
          <p:nvSpPr>
            <p:cNvPr name="TextBox 8" id="8"/>
            <p:cNvSpPr txBox="true"/>
            <p:nvPr/>
          </p:nvSpPr>
          <p:spPr>
            <a:xfrm>
              <a:off x="0" y="-9525"/>
              <a:ext cx="23202900" cy="1019175"/>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Bukti Progress Report</a:t>
              </a:r>
            </a:p>
          </p:txBody>
        </p:sp>
      </p:grpSp>
      <p:sp>
        <p:nvSpPr>
          <p:cNvPr name="Freeform 9" id="9"/>
          <p:cNvSpPr/>
          <p:nvPr/>
        </p:nvSpPr>
        <p:spPr>
          <a:xfrm flipH="false" flipV="false" rot="0">
            <a:off x="7674209" y="2523420"/>
            <a:ext cx="2939581" cy="6568897"/>
          </a:xfrm>
          <a:custGeom>
            <a:avLst/>
            <a:gdLst/>
            <a:ahLst/>
            <a:cxnLst/>
            <a:rect r="r" b="b" t="t" l="l"/>
            <a:pathLst>
              <a:path h="6568897" w="2939581">
                <a:moveTo>
                  <a:pt x="0" y="0"/>
                </a:moveTo>
                <a:lnTo>
                  <a:pt x="2939582" y="0"/>
                </a:lnTo>
                <a:lnTo>
                  <a:pt x="2939582" y="6568897"/>
                </a:lnTo>
                <a:lnTo>
                  <a:pt x="0" y="6568897"/>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7402175" cy="757238"/>
            <a:chOff x="0" y="0"/>
            <a:chExt cx="23202900" cy="1009650"/>
          </a:xfrm>
        </p:grpSpPr>
        <p:sp>
          <p:nvSpPr>
            <p:cNvPr name="Freeform 5" id="5"/>
            <p:cNvSpPr/>
            <p:nvPr/>
          </p:nvSpPr>
          <p:spPr>
            <a:xfrm flipH="false" flipV="false" rot="0">
              <a:off x="0" y="0"/>
              <a:ext cx="23202900" cy="1009650"/>
            </a:xfrm>
            <a:custGeom>
              <a:avLst/>
              <a:gdLst/>
              <a:ahLst/>
              <a:cxnLst/>
              <a:rect r="r" b="b" t="t" l="l"/>
              <a:pathLst>
                <a:path h="1009650" w="23202900">
                  <a:moveTo>
                    <a:pt x="0" y="0"/>
                  </a:moveTo>
                  <a:lnTo>
                    <a:pt x="23202900" y="0"/>
                  </a:lnTo>
                  <a:lnTo>
                    <a:pt x="23202900" y="1009650"/>
                  </a:lnTo>
                  <a:lnTo>
                    <a:pt x="0" y="1009650"/>
                  </a:lnTo>
                  <a:close/>
                </a:path>
              </a:pathLst>
            </a:custGeom>
            <a:blipFill>
              <a:blip r:embed="rId4">
                <a:alphaModFix amt="0"/>
              </a:blip>
              <a:stretch>
                <a:fillRect l="0" t="-397788" r="0" b="-397788"/>
              </a:stretch>
            </a:blipFill>
          </p:spPr>
        </p:sp>
        <p:sp>
          <p:nvSpPr>
            <p:cNvPr name="TextBox 6" id="6"/>
            <p:cNvSpPr txBox="true"/>
            <p:nvPr/>
          </p:nvSpPr>
          <p:spPr>
            <a:xfrm>
              <a:off x="0" y="-9525"/>
              <a:ext cx="23202900" cy="1019175"/>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Unified Modeling Language</a:t>
              </a:r>
            </a:p>
          </p:txBody>
        </p:sp>
      </p:grpSp>
      <p:sp>
        <p:nvSpPr>
          <p:cNvPr name="Freeform 7" id="7"/>
          <p:cNvSpPr/>
          <p:nvPr/>
        </p:nvSpPr>
        <p:spPr>
          <a:xfrm flipH="false" flipV="false" rot="0">
            <a:off x="5753439" y="1971230"/>
            <a:ext cx="5602749" cy="8034322"/>
          </a:xfrm>
          <a:custGeom>
            <a:avLst/>
            <a:gdLst/>
            <a:ahLst/>
            <a:cxnLst/>
            <a:rect r="r" b="b" t="t" l="l"/>
            <a:pathLst>
              <a:path h="8034322" w="5602749">
                <a:moveTo>
                  <a:pt x="0" y="0"/>
                </a:moveTo>
                <a:lnTo>
                  <a:pt x="5602749" y="0"/>
                </a:lnTo>
                <a:lnTo>
                  <a:pt x="5602749" y="8034322"/>
                </a:lnTo>
                <a:lnTo>
                  <a:pt x="0" y="8034322"/>
                </a:lnTo>
                <a:lnTo>
                  <a:pt x="0" y="0"/>
                </a:lnTo>
                <a:close/>
              </a:path>
            </a:pathLst>
          </a:custGeom>
          <a:blipFill>
            <a:blip r:embed="rId5"/>
            <a:stretch>
              <a:fillRect l="0" t="0" r="0" b="0"/>
            </a:stretch>
          </a:blipFill>
        </p:spPr>
      </p:sp>
      <p:sp>
        <p:nvSpPr>
          <p:cNvPr name="TextBox 8" id="8"/>
          <p:cNvSpPr txBox="true"/>
          <p:nvPr/>
        </p:nvSpPr>
        <p:spPr>
          <a:xfrm rot="0">
            <a:off x="857250" y="1689797"/>
            <a:ext cx="2090291"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LINK: </a:t>
            </a:r>
            <a:r>
              <a:rPr lang="en-US" sz="3399" u="sng">
                <a:solidFill>
                  <a:srgbClr val="000000"/>
                </a:solidFill>
                <a:latin typeface="Open Sans"/>
                <a:ea typeface="Open Sans"/>
                <a:cs typeface="Open Sans"/>
                <a:sym typeface="Open Sans"/>
                <a:hlinkClick r:id="rId6" tooltip="https://drive.google.com/file/d/1WaKSjSgXJlDNApAZtroyRtXixI12lgK0/view?usp=sharing"/>
              </a:rPr>
              <a:t>UML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7402175" cy="1203884"/>
            <a:chOff x="0" y="0"/>
            <a:chExt cx="23202900" cy="1605178"/>
          </a:xfrm>
        </p:grpSpPr>
        <p:sp>
          <p:nvSpPr>
            <p:cNvPr name="Freeform 5" id="5"/>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4">
                <a:alphaModFix amt="0"/>
              </a:blip>
              <a:stretch>
                <a:fillRect l="0" t="-250207" r="0" b="-213106"/>
              </a:stretch>
            </a:blipFill>
          </p:spPr>
        </p:sp>
        <p:sp>
          <p:nvSpPr>
            <p:cNvPr name="TextBox 6" id="6"/>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Entity Relationship Diagram</a:t>
              </a:r>
            </a:p>
          </p:txBody>
        </p:sp>
      </p:grpSp>
      <p:sp>
        <p:nvSpPr>
          <p:cNvPr name="Freeform 7" id="7"/>
          <p:cNvSpPr/>
          <p:nvPr/>
        </p:nvSpPr>
        <p:spPr>
          <a:xfrm flipH="false" flipV="false" rot="0">
            <a:off x="4799274" y="1985565"/>
            <a:ext cx="7384797" cy="7671106"/>
          </a:xfrm>
          <a:custGeom>
            <a:avLst/>
            <a:gdLst/>
            <a:ahLst/>
            <a:cxnLst/>
            <a:rect r="r" b="b" t="t" l="l"/>
            <a:pathLst>
              <a:path h="7671106" w="7384797">
                <a:moveTo>
                  <a:pt x="0" y="0"/>
                </a:moveTo>
                <a:lnTo>
                  <a:pt x="7384797" y="0"/>
                </a:lnTo>
                <a:lnTo>
                  <a:pt x="7384797" y="7671107"/>
                </a:lnTo>
                <a:lnTo>
                  <a:pt x="0" y="7671107"/>
                </a:lnTo>
                <a:lnTo>
                  <a:pt x="0" y="0"/>
                </a:lnTo>
                <a:close/>
              </a:path>
            </a:pathLst>
          </a:custGeom>
          <a:blipFill>
            <a:blip r:embed="rId5"/>
            <a:stretch>
              <a:fillRect l="0" t="0" r="0" b="0"/>
            </a:stretch>
          </a:blipFill>
        </p:spPr>
      </p:sp>
      <p:sp>
        <p:nvSpPr>
          <p:cNvPr name="TextBox 8" id="8"/>
          <p:cNvSpPr txBox="true"/>
          <p:nvPr/>
        </p:nvSpPr>
        <p:spPr>
          <a:xfrm rot="0">
            <a:off x="857250" y="2013509"/>
            <a:ext cx="1521134" cy="464633"/>
          </a:xfrm>
          <a:prstGeom prst="rect">
            <a:avLst/>
          </a:prstGeom>
        </p:spPr>
        <p:txBody>
          <a:bodyPr anchor="t" rtlCol="false" tIns="0" lIns="0" bIns="0" rIns="0">
            <a:spAutoFit/>
          </a:bodyPr>
          <a:lstStyle/>
          <a:p>
            <a:pPr algn="ctr">
              <a:lnSpc>
                <a:spcPts val="3863"/>
              </a:lnSpc>
            </a:pPr>
            <a:r>
              <a:rPr lang="en-US" sz="2759">
                <a:solidFill>
                  <a:srgbClr val="000000"/>
                </a:solidFill>
                <a:latin typeface="Open Sans"/>
                <a:ea typeface="Open Sans"/>
                <a:cs typeface="Open Sans"/>
                <a:sym typeface="Open Sans"/>
              </a:rPr>
              <a:t>Link: </a:t>
            </a:r>
            <a:r>
              <a:rPr lang="en-US" sz="2759" u="sng">
                <a:solidFill>
                  <a:srgbClr val="000000"/>
                </a:solidFill>
                <a:latin typeface="Open Sans"/>
                <a:ea typeface="Open Sans"/>
                <a:cs typeface="Open Sans"/>
                <a:sym typeface="Open Sans"/>
                <a:hlinkClick r:id="rId6" tooltip="https://drive.google.com/file/d/1A-vTuINKaVAa68dYHhK7q9tBSOaBNC1H/view?usp=sharing"/>
              </a:rPr>
              <a:t>ERD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85825" y="4541558"/>
            <a:ext cx="17402175" cy="1203884"/>
            <a:chOff x="0" y="0"/>
            <a:chExt cx="23202900" cy="1605178"/>
          </a:xfrm>
        </p:grpSpPr>
        <p:sp>
          <p:nvSpPr>
            <p:cNvPr name="Freeform 5" id="5"/>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4">
                <a:alphaModFix amt="0"/>
              </a:blip>
              <a:stretch>
                <a:fillRect l="0" t="-250207" r="0" b="-213106"/>
              </a:stretch>
            </a:blipFill>
          </p:spPr>
        </p:sp>
        <p:sp>
          <p:nvSpPr>
            <p:cNvPr name="TextBox 6" id="6"/>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Alur Logika Aplikasi</a:t>
              </a:r>
            </a:p>
          </p:txBody>
        </p:sp>
      </p:grpSp>
      <p:sp>
        <p:nvSpPr>
          <p:cNvPr name="Freeform 7" id="7"/>
          <p:cNvSpPr/>
          <p:nvPr/>
        </p:nvSpPr>
        <p:spPr>
          <a:xfrm flipH="false" flipV="false" rot="0">
            <a:off x="10035567" y="0"/>
            <a:ext cx="5825014" cy="10287000"/>
          </a:xfrm>
          <a:custGeom>
            <a:avLst/>
            <a:gdLst/>
            <a:ahLst/>
            <a:cxnLst/>
            <a:rect r="r" b="b" t="t" l="l"/>
            <a:pathLst>
              <a:path h="10287000" w="5825014">
                <a:moveTo>
                  <a:pt x="0" y="0"/>
                </a:moveTo>
                <a:lnTo>
                  <a:pt x="5825013" y="0"/>
                </a:lnTo>
                <a:lnTo>
                  <a:pt x="5825013" y="10287000"/>
                </a:lnTo>
                <a:lnTo>
                  <a:pt x="0" y="10287000"/>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3983328"/>
            <a:ext cx="2571750" cy="857250"/>
            <a:chOff x="0" y="0"/>
            <a:chExt cx="3429000" cy="1143000"/>
          </a:xfrm>
        </p:grpSpPr>
        <p:sp>
          <p:nvSpPr>
            <p:cNvPr name="Freeform 5" id="5" descr="image.png"/>
            <p:cNvSpPr/>
            <p:nvPr/>
          </p:nvSpPr>
          <p:spPr>
            <a:xfrm flipH="false" flipV="false" rot="0">
              <a:off x="0" y="0"/>
              <a:ext cx="3429000" cy="1143000"/>
            </a:xfrm>
            <a:custGeom>
              <a:avLst/>
              <a:gdLst/>
              <a:ahLst/>
              <a:cxnLst/>
              <a:rect r="r" b="b" t="t" l="l"/>
              <a:pathLst>
                <a:path h="1143000" w="3429000">
                  <a:moveTo>
                    <a:pt x="0" y="0"/>
                  </a:moveTo>
                  <a:lnTo>
                    <a:pt x="3429000" y="0"/>
                  </a:lnTo>
                  <a:lnTo>
                    <a:pt x="3429000" y="1143000"/>
                  </a:lnTo>
                  <a:lnTo>
                    <a:pt x="0" y="1143000"/>
                  </a:lnTo>
                  <a:lnTo>
                    <a:pt x="0" y="0"/>
                  </a:lnTo>
                  <a:close/>
                </a:path>
              </a:pathLst>
            </a:custGeom>
            <a:blipFill>
              <a:blip r:embed="rId4"/>
              <a:stretch>
                <a:fillRect l="0" t="0" r="0" b="-1666"/>
              </a:stretch>
            </a:blipFill>
          </p:spPr>
        </p:sp>
      </p:grpSp>
      <p:grpSp>
        <p:nvGrpSpPr>
          <p:cNvPr name="Group 6" id="6"/>
          <p:cNvGrpSpPr/>
          <p:nvPr/>
        </p:nvGrpSpPr>
        <p:grpSpPr>
          <a:xfrm rot="0">
            <a:off x="4500562" y="3983328"/>
            <a:ext cx="2571750" cy="857250"/>
            <a:chOff x="0" y="0"/>
            <a:chExt cx="3429000" cy="1143000"/>
          </a:xfrm>
        </p:grpSpPr>
        <p:sp>
          <p:nvSpPr>
            <p:cNvPr name="Freeform 7" id="7" descr="image.png"/>
            <p:cNvSpPr/>
            <p:nvPr/>
          </p:nvSpPr>
          <p:spPr>
            <a:xfrm flipH="false" flipV="false" rot="0">
              <a:off x="0" y="0"/>
              <a:ext cx="3429000" cy="1143000"/>
            </a:xfrm>
            <a:custGeom>
              <a:avLst/>
              <a:gdLst/>
              <a:ahLst/>
              <a:cxnLst/>
              <a:rect r="r" b="b" t="t" l="l"/>
              <a:pathLst>
                <a:path h="1143000" w="3429000">
                  <a:moveTo>
                    <a:pt x="0" y="0"/>
                  </a:moveTo>
                  <a:lnTo>
                    <a:pt x="3429000" y="0"/>
                  </a:lnTo>
                  <a:lnTo>
                    <a:pt x="3429000" y="1143000"/>
                  </a:lnTo>
                  <a:lnTo>
                    <a:pt x="0" y="1143000"/>
                  </a:lnTo>
                  <a:lnTo>
                    <a:pt x="0" y="0"/>
                  </a:lnTo>
                  <a:close/>
                </a:path>
              </a:pathLst>
            </a:custGeom>
            <a:blipFill>
              <a:blip r:embed="rId5"/>
              <a:stretch>
                <a:fillRect l="0" t="0" r="0" b="-1666"/>
              </a:stretch>
            </a:blipFill>
          </p:spPr>
        </p:sp>
      </p:grpSp>
      <p:grpSp>
        <p:nvGrpSpPr>
          <p:cNvPr name="Group 8" id="8"/>
          <p:cNvGrpSpPr/>
          <p:nvPr/>
        </p:nvGrpSpPr>
        <p:grpSpPr>
          <a:xfrm rot="0">
            <a:off x="7858125" y="3983328"/>
            <a:ext cx="2571750" cy="857250"/>
            <a:chOff x="0" y="0"/>
            <a:chExt cx="3429000" cy="1143000"/>
          </a:xfrm>
        </p:grpSpPr>
        <p:sp>
          <p:nvSpPr>
            <p:cNvPr name="Freeform 9" id="9" descr="image.png"/>
            <p:cNvSpPr/>
            <p:nvPr/>
          </p:nvSpPr>
          <p:spPr>
            <a:xfrm flipH="false" flipV="false" rot="0">
              <a:off x="0" y="0"/>
              <a:ext cx="3429000" cy="1143000"/>
            </a:xfrm>
            <a:custGeom>
              <a:avLst/>
              <a:gdLst/>
              <a:ahLst/>
              <a:cxnLst/>
              <a:rect r="r" b="b" t="t" l="l"/>
              <a:pathLst>
                <a:path h="1143000" w="3429000">
                  <a:moveTo>
                    <a:pt x="0" y="0"/>
                  </a:moveTo>
                  <a:lnTo>
                    <a:pt x="3429000" y="0"/>
                  </a:lnTo>
                  <a:lnTo>
                    <a:pt x="3429000" y="1143000"/>
                  </a:lnTo>
                  <a:lnTo>
                    <a:pt x="0" y="1143000"/>
                  </a:lnTo>
                  <a:lnTo>
                    <a:pt x="0" y="0"/>
                  </a:lnTo>
                  <a:close/>
                </a:path>
              </a:pathLst>
            </a:custGeom>
            <a:blipFill>
              <a:blip r:embed="rId6"/>
              <a:stretch>
                <a:fillRect l="0" t="0" r="0" b="-1666"/>
              </a:stretch>
            </a:blipFill>
          </p:spPr>
        </p:sp>
      </p:grpSp>
      <p:grpSp>
        <p:nvGrpSpPr>
          <p:cNvPr name="Group 10" id="10"/>
          <p:cNvGrpSpPr/>
          <p:nvPr/>
        </p:nvGrpSpPr>
        <p:grpSpPr>
          <a:xfrm rot="0">
            <a:off x="11215688" y="3983328"/>
            <a:ext cx="2571750" cy="857250"/>
            <a:chOff x="0" y="0"/>
            <a:chExt cx="3429000" cy="1143000"/>
          </a:xfrm>
        </p:grpSpPr>
        <p:sp>
          <p:nvSpPr>
            <p:cNvPr name="Freeform 11" id="11" descr="image.png"/>
            <p:cNvSpPr/>
            <p:nvPr/>
          </p:nvSpPr>
          <p:spPr>
            <a:xfrm flipH="false" flipV="false" rot="0">
              <a:off x="0" y="0"/>
              <a:ext cx="3429000" cy="1143000"/>
            </a:xfrm>
            <a:custGeom>
              <a:avLst/>
              <a:gdLst/>
              <a:ahLst/>
              <a:cxnLst/>
              <a:rect r="r" b="b" t="t" l="l"/>
              <a:pathLst>
                <a:path h="1143000" w="3429000">
                  <a:moveTo>
                    <a:pt x="0" y="0"/>
                  </a:moveTo>
                  <a:lnTo>
                    <a:pt x="3429000" y="0"/>
                  </a:lnTo>
                  <a:lnTo>
                    <a:pt x="3429000" y="1143000"/>
                  </a:lnTo>
                  <a:lnTo>
                    <a:pt x="0" y="1143000"/>
                  </a:lnTo>
                  <a:lnTo>
                    <a:pt x="0" y="0"/>
                  </a:lnTo>
                  <a:close/>
                </a:path>
              </a:pathLst>
            </a:custGeom>
            <a:blipFill>
              <a:blip r:embed="rId7"/>
              <a:stretch>
                <a:fillRect l="0" t="0" r="0" b="-1666"/>
              </a:stretch>
            </a:blipFill>
          </p:spPr>
        </p:sp>
      </p:grpSp>
      <p:grpSp>
        <p:nvGrpSpPr>
          <p:cNvPr name="Group 12" id="12"/>
          <p:cNvGrpSpPr/>
          <p:nvPr/>
        </p:nvGrpSpPr>
        <p:grpSpPr>
          <a:xfrm rot="0">
            <a:off x="14573250" y="3983328"/>
            <a:ext cx="2571750" cy="857250"/>
            <a:chOff x="0" y="0"/>
            <a:chExt cx="3429000" cy="1143000"/>
          </a:xfrm>
        </p:grpSpPr>
        <p:sp>
          <p:nvSpPr>
            <p:cNvPr name="Freeform 13" id="13" descr="image.png"/>
            <p:cNvSpPr/>
            <p:nvPr/>
          </p:nvSpPr>
          <p:spPr>
            <a:xfrm flipH="false" flipV="false" rot="0">
              <a:off x="0" y="0"/>
              <a:ext cx="3429000" cy="1143000"/>
            </a:xfrm>
            <a:custGeom>
              <a:avLst/>
              <a:gdLst/>
              <a:ahLst/>
              <a:cxnLst/>
              <a:rect r="r" b="b" t="t" l="l"/>
              <a:pathLst>
                <a:path h="1143000" w="3429000">
                  <a:moveTo>
                    <a:pt x="0" y="0"/>
                  </a:moveTo>
                  <a:lnTo>
                    <a:pt x="3429000" y="0"/>
                  </a:lnTo>
                  <a:lnTo>
                    <a:pt x="3429000" y="1143000"/>
                  </a:lnTo>
                  <a:lnTo>
                    <a:pt x="0" y="1143000"/>
                  </a:lnTo>
                  <a:lnTo>
                    <a:pt x="0" y="0"/>
                  </a:lnTo>
                  <a:close/>
                </a:path>
              </a:pathLst>
            </a:custGeom>
            <a:blipFill>
              <a:blip r:embed="rId8"/>
              <a:stretch>
                <a:fillRect l="0" t="0" r="0" b="-1666"/>
              </a:stretch>
            </a:blipFill>
          </p:spPr>
        </p:sp>
      </p:grpSp>
      <p:grpSp>
        <p:nvGrpSpPr>
          <p:cNvPr name="Group 14" id="14"/>
          <p:cNvGrpSpPr/>
          <p:nvPr/>
        </p:nvGrpSpPr>
        <p:grpSpPr>
          <a:xfrm rot="0">
            <a:off x="3971925" y="4197641"/>
            <a:ext cx="271462" cy="428625"/>
            <a:chOff x="0" y="0"/>
            <a:chExt cx="361950" cy="571500"/>
          </a:xfrm>
        </p:grpSpPr>
        <p:sp>
          <p:nvSpPr>
            <p:cNvPr name="Freeform 15" id="15" descr="image.png"/>
            <p:cNvSpPr/>
            <p:nvPr/>
          </p:nvSpPr>
          <p:spPr>
            <a:xfrm flipH="false" flipV="false" rot="0">
              <a:off x="0" y="0"/>
              <a:ext cx="361950" cy="571500"/>
            </a:xfrm>
            <a:custGeom>
              <a:avLst/>
              <a:gdLst/>
              <a:ahLst/>
              <a:cxnLst/>
              <a:rect r="r" b="b" t="t" l="l"/>
              <a:pathLst>
                <a:path h="571500" w="361950">
                  <a:moveTo>
                    <a:pt x="0" y="0"/>
                  </a:moveTo>
                  <a:lnTo>
                    <a:pt x="361950" y="0"/>
                  </a:lnTo>
                  <a:lnTo>
                    <a:pt x="361950" y="571500"/>
                  </a:lnTo>
                  <a:lnTo>
                    <a:pt x="0" y="571500"/>
                  </a:lnTo>
                  <a:lnTo>
                    <a:pt x="0" y="0"/>
                  </a:lnTo>
                  <a:close/>
                </a:path>
              </a:pathLst>
            </a:custGeom>
            <a:blipFill>
              <a:blip r:embed="rId9"/>
              <a:stretch>
                <a:fillRect l="0" t="0" r="0" b="-3333"/>
              </a:stretch>
            </a:blipFill>
          </p:spPr>
        </p:sp>
      </p:grpSp>
      <p:grpSp>
        <p:nvGrpSpPr>
          <p:cNvPr name="Group 16" id="16"/>
          <p:cNvGrpSpPr/>
          <p:nvPr/>
        </p:nvGrpSpPr>
        <p:grpSpPr>
          <a:xfrm rot="0">
            <a:off x="7329488" y="4197641"/>
            <a:ext cx="271462" cy="428625"/>
            <a:chOff x="0" y="0"/>
            <a:chExt cx="361950" cy="571500"/>
          </a:xfrm>
        </p:grpSpPr>
        <p:sp>
          <p:nvSpPr>
            <p:cNvPr name="Freeform 17" id="17" descr="image.png"/>
            <p:cNvSpPr/>
            <p:nvPr/>
          </p:nvSpPr>
          <p:spPr>
            <a:xfrm flipH="false" flipV="false" rot="0">
              <a:off x="0" y="0"/>
              <a:ext cx="361950" cy="571500"/>
            </a:xfrm>
            <a:custGeom>
              <a:avLst/>
              <a:gdLst/>
              <a:ahLst/>
              <a:cxnLst/>
              <a:rect r="r" b="b" t="t" l="l"/>
              <a:pathLst>
                <a:path h="571500" w="361950">
                  <a:moveTo>
                    <a:pt x="0" y="0"/>
                  </a:moveTo>
                  <a:lnTo>
                    <a:pt x="361950" y="0"/>
                  </a:lnTo>
                  <a:lnTo>
                    <a:pt x="361950" y="571500"/>
                  </a:lnTo>
                  <a:lnTo>
                    <a:pt x="0" y="571500"/>
                  </a:lnTo>
                  <a:lnTo>
                    <a:pt x="0" y="0"/>
                  </a:lnTo>
                  <a:close/>
                </a:path>
              </a:pathLst>
            </a:custGeom>
            <a:blipFill>
              <a:blip r:embed="rId9"/>
              <a:stretch>
                <a:fillRect l="0" t="0" r="0" b="-3333"/>
              </a:stretch>
            </a:blipFill>
          </p:spPr>
        </p:sp>
      </p:grpSp>
      <p:grpSp>
        <p:nvGrpSpPr>
          <p:cNvPr name="Group 18" id="18"/>
          <p:cNvGrpSpPr/>
          <p:nvPr/>
        </p:nvGrpSpPr>
        <p:grpSpPr>
          <a:xfrm rot="0">
            <a:off x="10687050" y="4197641"/>
            <a:ext cx="271462" cy="428625"/>
            <a:chOff x="0" y="0"/>
            <a:chExt cx="361950" cy="571500"/>
          </a:xfrm>
        </p:grpSpPr>
        <p:sp>
          <p:nvSpPr>
            <p:cNvPr name="Freeform 19" id="19" descr="image.png"/>
            <p:cNvSpPr/>
            <p:nvPr/>
          </p:nvSpPr>
          <p:spPr>
            <a:xfrm flipH="false" flipV="false" rot="0">
              <a:off x="0" y="0"/>
              <a:ext cx="361950" cy="571500"/>
            </a:xfrm>
            <a:custGeom>
              <a:avLst/>
              <a:gdLst/>
              <a:ahLst/>
              <a:cxnLst/>
              <a:rect r="r" b="b" t="t" l="l"/>
              <a:pathLst>
                <a:path h="571500" w="361950">
                  <a:moveTo>
                    <a:pt x="0" y="0"/>
                  </a:moveTo>
                  <a:lnTo>
                    <a:pt x="361950" y="0"/>
                  </a:lnTo>
                  <a:lnTo>
                    <a:pt x="361950" y="571500"/>
                  </a:lnTo>
                  <a:lnTo>
                    <a:pt x="0" y="571500"/>
                  </a:lnTo>
                  <a:lnTo>
                    <a:pt x="0" y="0"/>
                  </a:lnTo>
                  <a:close/>
                </a:path>
              </a:pathLst>
            </a:custGeom>
            <a:blipFill>
              <a:blip r:embed="rId9"/>
              <a:stretch>
                <a:fillRect l="0" t="0" r="0" b="-3333"/>
              </a:stretch>
            </a:blipFill>
          </p:spPr>
        </p:sp>
      </p:grpSp>
      <p:grpSp>
        <p:nvGrpSpPr>
          <p:cNvPr name="Group 20" id="20"/>
          <p:cNvGrpSpPr/>
          <p:nvPr/>
        </p:nvGrpSpPr>
        <p:grpSpPr>
          <a:xfrm rot="0">
            <a:off x="14044612" y="4197641"/>
            <a:ext cx="271462" cy="428625"/>
            <a:chOff x="0" y="0"/>
            <a:chExt cx="361950" cy="571500"/>
          </a:xfrm>
        </p:grpSpPr>
        <p:sp>
          <p:nvSpPr>
            <p:cNvPr name="Freeform 21" id="21" descr="image.png"/>
            <p:cNvSpPr/>
            <p:nvPr/>
          </p:nvSpPr>
          <p:spPr>
            <a:xfrm flipH="false" flipV="false" rot="0">
              <a:off x="0" y="0"/>
              <a:ext cx="361950" cy="571500"/>
            </a:xfrm>
            <a:custGeom>
              <a:avLst/>
              <a:gdLst/>
              <a:ahLst/>
              <a:cxnLst/>
              <a:rect r="r" b="b" t="t" l="l"/>
              <a:pathLst>
                <a:path h="571500" w="361950">
                  <a:moveTo>
                    <a:pt x="0" y="0"/>
                  </a:moveTo>
                  <a:lnTo>
                    <a:pt x="361950" y="0"/>
                  </a:lnTo>
                  <a:lnTo>
                    <a:pt x="361950" y="571500"/>
                  </a:lnTo>
                  <a:lnTo>
                    <a:pt x="0" y="571500"/>
                  </a:lnTo>
                  <a:lnTo>
                    <a:pt x="0" y="0"/>
                  </a:lnTo>
                  <a:close/>
                </a:path>
              </a:pathLst>
            </a:custGeom>
            <a:blipFill>
              <a:blip r:embed="rId9"/>
              <a:stretch>
                <a:fillRect l="0" t="0" r="0" b="-3333"/>
              </a:stretch>
            </a:blipFill>
          </p:spPr>
        </p:sp>
      </p:grpSp>
      <p:grpSp>
        <p:nvGrpSpPr>
          <p:cNvPr name="Group 22" id="22"/>
          <p:cNvGrpSpPr/>
          <p:nvPr/>
        </p:nvGrpSpPr>
        <p:grpSpPr>
          <a:xfrm rot="0">
            <a:off x="857250" y="857250"/>
            <a:ext cx="17402175" cy="1203884"/>
            <a:chOff x="0" y="0"/>
            <a:chExt cx="23202900" cy="1605178"/>
          </a:xfrm>
        </p:grpSpPr>
        <p:sp>
          <p:nvSpPr>
            <p:cNvPr name="Freeform 23" id="23"/>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10">
                <a:alphaModFix amt="0"/>
              </a:blip>
              <a:stretch>
                <a:fillRect l="0" t="-250207" r="0" b="-213106"/>
              </a:stretch>
            </a:blipFill>
          </p:spPr>
        </p:sp>
        <p:sp>
          <p:nvSpPr>
            <p:cNvPr name="TextBox 24" id="24"/>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Alur Logika Aplikasi</a:t>
              </a:r>
            </a:p>
          </p:txBody>
        </p:sp>
      </p:grpSp>
      <p:grpSp>
        <p:nvGrpSpPr>
          <p:cNvPr name="Group 25" id="25"/>
          <p:cNvGrpSpPr/>
          <p:nvPr/>
        </p:nvGrpSpPr>
        <p:grpSpPr>
          <a:xfrm rot="0">
            <a:off x="1143000" y="6435498"/>
            <a:ext cx="2571750" cy="857250"/>
            <a:chOff x="0" y="0"/>
            <a:chExt cx="3429000" cy="1143000"/>
          </a:xfrm>
        </p:grpSpPr>
        <p:sp>
          <p:nvSpPr>
            <p:cNvPr name="Freeform 26" id="26" descr="image.png"/>
            <p:cNvSpPr/>
            <p:nvPr/>
          </p:nvSpPr>
          <p:spPr>
            <a:xfrm flipH="false" flipV="false" rot="0">
              <a:off x="0" y="0"/>
              <a:ext cx="3429000" cy="1143000"/>
            </a:xfrm>
            <a:custGeom>
              <a:avLst/>
              <a:gdLst/>
              <a:ahLst/>
              <a:cxnLst/>
              <a:rect r="r" b="b" t="t" l="l"/>
              <a:pathLst>
                <a:path h="1143000" w="3429000">
                  <a:moveTo>
                    <a:pt x="0" y="0"/>
                  </a:moveTo>
                  <a:lnTo>
                    <a:pt x="3429000" y="0"/>
                  </a:lnTo>
                  <a:lnTo>
                    <a:pt x="3429000" y="1143000"/>
                  </a:lnTo>
                  <a:lnTo>
                    <a:pt x="0" y="1143000"/>
                  </a:lnTo>
                  <a:lnTo>
                    <a:pt x="0" y="0"/>
                  </a:lnTo>
                  <a:close/>
                </a:path>
              </a:pathLst>
            </a:custGeom>
            <a:blipFill>
              <a:blip r:embed="rId4"/>
              <a:stretch>
                <a:fillRect l="0" t="0" r="0" b="-1666"/>
              </a:stretch>
            </a:blipFill>
          </p:spPr>
        </p:sp>
      </p:grpSp>
      <p:grpSp>
        <p:nvGrpSpPr>
          <p:cNvPr name="Group 27" id="27"/>
          <p:cNvGrpSpPr/>
          <p:nvPr/>
        </p:nvGrpSpPr>
        <p:grpSpPr>
          <a:xfrm rot="0">
            <a:off x="4500562" y="6435498"/>
            <a:ext cx="2571750" cy="857250"/>
            <a:chOff x="0" y="0"/>
            <a:chExt cx="3429000" cy="1143000"/>
          </a:xfrm>
        </p:grpSpPr>
        <p:sp>
          <p:nvSpPr>
            <p:cNvPr name="Freeform 28" id="28" descr="image.png"/>
            <p:cNvSpPr/>
            <p:nvPr/>
          </p:nvSpPr>
          <p:spPr>
            <a:xfrm flipH="false" flipV="false" rot="0">
              <a:off x="0" y="0"/>
              <a:ext cx="3429000" cy="1143000"/>
            </a:xfrm>
            <a:custGeom>
              <a:avLst/>
              <a:gdLst/>
              <a:ahLst/>
              <a:cxnLst/>
              <a:rect r="r" b="b" t="t" l="l"/>
              <a:pathLst>
                <a:path h="1143000" w="3429000">
                  <a:moveTo>
                    <a:pt x="0" y="0"/>
                  </a:moveTo>
                  <a:lnTo>
                    <a:pt x="3429000" y="0"/>
                  </a:lnTo>
                  <a:lnTo>
                    <a:pt x="3429000" y="1143000"/>
                  </a:lnTo>
                  <a:lnTo>
                    <a:pt x="0" y="1143000"/>
                  </a:lnTo>
                  <a:lnTo>
                    <a:pt x="0" y="0"/>
                  </a:lnTo>
                  <a:close/>
                </a:path>
              </a:pathLst>
            </a:custGeom>
            <a:blipFill>
              <a:blip r:embed="rId5"/>
              <a:stretch>
                <a:fillRect l="0" t="0" r="0" b="-1666"/>
              </a:stretch>
            </a:blipFill>
          </p:spPr>
        </p:sp>
      </p:grpSp>
      <p:grpSp>
        <p:nvGrpSpPr>
          <p:cNvPr name="Group 29" id="29"/>
          <p:cNvGrpSpPr/>
          <p:nvPr/>
        </p:nvGrpSpPr>
        <p:grpSpPr>
          <a:xfrm rot="0">
            <a:off x="7858125" y="6435498"/>
            <a:ext cx="2571750" cy="857250"/>
            <a:chOff x="0" y="0"/>
            <a:chExt cx="3429000" cy="1143000"/>
          </a:xfrm>
        </p:grpSpPr>
        <p:sp>
          <p:nvSpPr>
            <p:cNvPr name="Freeform 30" id="30" descr="image.png"/>
            <p:cNvSpPr/>
            <p:nvPr/>
          </p:nvSpPr>
          <p:spPr>
            <a:xfrm flipH="false" flipV="false" rot="0">
              <a:off x="0" y="0"/>
              <a:ext cx="3429000" cy="1143000"/>
            </a:xfrm>
            <a:custGeom>
              <a:avLst/>
              <a:gdLst/>
              <a:ahLst/>
              <a:cxnLst/>
              <a:rect r="r" b="b" t="t" l="l"/>
              <a:pathLst>
                <a:path h="1143000" w="3429000">
                  <a:moveTo>
                    <a:pt x="0" y="0"/>
                  </a:moveTo>
                  <a:lnTo>
                    <a:pt x="3429000" y="0"/>
                  </a:lnTo>
                  <a:lnTo>
                    <a:pt x="3429000" y="1143000"/>
                  </a:lnTo>
                  <a:lnTo>
                    <a:pt x="0" y="1143000"/>
                  </a:lnTo>
                  <a:lnTo>
                    <a:pt x="0" y="0"/>
                  </a:lnTo>
                  <a:close/>
                </a:path>
              </a:pathLst>
            </a:custGeom>
            <a:blipFill>
              <a:blip r:embed="rId6"/>
              <a:stretch>
                <a:fillRect l="0" t="0" r="0" b="-1666"/>
              </a:stretch>
            </a:blipFill>
          </p:spPr>
        </p:sp>
      </p:grpSp>
      <p:grpSp>
        <p:nvGrpSpPr>
          <p:cNvPr name="Group 31" id="31"/>
          <p:cNvGrpSpPr/>
          <p:nvPr/>
        </p:nvGrpSpPr>
        <p:grpSpPr>
          <a:xfrm rot="0">
            <a:off x="11215688" y="6435498"/>
            <a:ext cx="2571750" cy="857250"/>
            <a:chOff x="0" y="0"/>
            <a:chExt cx="3429000" cy="1143000"/>
          </a:xfrm>
        </p:grpSpPr>
        <p:sp>
          <p:nvSpPr>
            <p:cNvPr name="Freeform 32" id="32" descr="image.png"/>
            <p:cNvSpPr/>
            <p:nvPr/>
          </p:nvSpPr>
          <p:spPr>
            <a:xfrm flipH="false" flipV="false" rot="0">
              <a:off x="0" y="0"/>
              <a:ext cx="3429000" cy="1143000"/>
            </a:xfrm>
            <a:custGeom>
              <a:avLst/>
              <a:gdLst/>
              <a:ahLst/>
              <a:cxnLst/>
              <a:rect r="r" b="b" t="t" l="l"/>
              <a:pathLst>
                <a:path h="1143000" w="3429000">
                  <a:moveTo>
                    <a:pt x="0" y="0"/>
                  </a:moveTo>
                  <a:lnTo>
                    <a:pt x="3429000" y="0"/>
                  </a:lnTo>
                  <a:lnTo>
                    <a:pt x="3429000" y="1143000"/>
                  </a:lnTo>
                  <a:lnTo>
                    <a:pt x="0" y="1143000"/>
                  </a:lnTo>
                  <a:lnTo>
                    <a:pt x="0" y="0"/>
                  </a:lnTo>
                  <a:close/>
                </a:path>
              </a:pathLst>
            </a:custGeom>
            <a:blipFill>
              <a:blip r:embed="rId7"/>
              <a:stretch>
                <a:fillRect l="0" t="0" r="0" b="-1666"/>
              </a:stretch>
            </a:blipFill>
          </p:spPr>
        </p:sp>
      </p:grpSp>
      <p:grpSp>
        <p:nvGrpSpPr>
          <p:cNvPr name="Group 33" id="33"/>
          <p:cNvGrpSpPr/>
          <p:nvPr/>
        </p:nvGrpSpPr>
        <p:grpSpPr>
          <a:xfrm rot="0">
            <a:off x="3971925" y="6649810"/>
            <a:ext cx="271462" cy="428625"/>
            <a:chOff x="0" y="0"/>
            <a:chExt cx="361950" cy="571500"/>
          </a:xfrm>
        </p:grpSpPr>
        <p:sp>
          <p:nvSpPr>
            <p:cNvPr name="Freeform 34" id="34" descr="image.png"/>
            <p:cNvSpPr/>
            <p:nvPr/>
          </p:nvSpPr>
          <p:spPr>
            <a:xfrm flipH="false" flipV="false" rot="0">
              <a:off x="0" y="0"/>
              <a:ext cx="361950" cy="571500"/>
            </a:xfrm>
            <a:custGeom>
              <a:avLst/>
              <a:gdLst/>
              <a:ahLst/>
              <a:cxnLst/>
              <a:rect r="r" b="b" t="t" l="l"/>
              <a:pathLst>
                <a:path h="571500" w="361950">
                  <a:moveTo>
                    <a:pt x="0" y="0"/>
                  </a:moveTo>
                  <a:lnTo>
                    <a:pt x="361950" y="0"/>
                  </a:lnTo>
                  <a:lnTo>
                    <a:pt x="361950" y="571500"/>
                  </a:lnTo>
                  <a:lnTo>
                    <a:pt x="0" y="571500"/>
                  </a:lnTo>
                  <a:lnTo>
                    <a:pt x="0" y="0"/>
                  </a:lnTo>
                  <a:close/>
                </a:path>
              </a:pathLst>
            </a:custGeom>
            <a:blipFill>
              <a:blip r:embed="rId9"/>
              <a:stretch>
                <a:fillRect l="0" t="0" r="0" b="-3333"/>
              </a:stretch>
            </a:blipFill>
          </p:spPr>
        </p:sp>
      </p:grpSp>
      <p:grpSp>
        <p:nvGrpSpPr>
          <p:cNvPr name="Group 35" id="35"/>
          <p:cNvGrpSpPr/>
          <p:nvPr/>
        </p:nvGrpSpPr>
        <p:grpSpPr>
          <a:xfrm rot="0">
            <a:off x="7329488" y="6649810"/>
            <a:ext cx="271462" cy="428625"/>
            <a:chOff x="0" y="0"/>
            <a:chExt cx="361950" cy="571500"/>
          </a:xfrm>
        </p:grpSpPr>
        <p:sp>
          <p:nvSpPr>
            <p:cNvPr name="Freeform 36" id="36" descr="image.png"/>
            <p:cNvSpPr/>
            <p:nvPr/>
          </p:nvSpPr>
          <p:spPr>
            <a:xfrm flipH="false" flipV="false" rot="0">
              <a:off x="0" y="0"/>
              <a:ext cx="361950" cy="571500"/>
            </a:xfrm>
            <a:custGeom>
              <a:avLst/>
              <a:gdLst/>
              <a:ahLst/>
              <a:cxnLst/>
              <a:rect r="r" b="b" t="t" l="l"/>
              <a:pathLst>
                <a:path h="571500" w="361950">
                  <a:moveTo>
                    <a:pt x="0" y="0"/>
                  </a:moveTo>
                  <a:lnTo>
                    <a:pt x="361950" y="0"/>
                  </a:lnTo>
                  <a:lnTo>
                    <a:pt x="361950" y="571500"/>
                  </a:lnTo>
                  <a:lnTo>
                    <a:pt x="0" y="571500"/>
                  </a:lnTo>
                  <a:lnTo>
                    <a:pt x="0" y="0"/>
                  </a:lnTo>
                  <a:close/>
                </a:path>
              </a:pathLst>
            </a:custGeom>
            <a:blipFill>
              <a:blip r:embed="rId9"/>
              <a:stretch>
                <a:fillRect l="0" t="0" r="0" b="-3333"/>
              </a:stretch>
            </a:blipFill>
          </p:spPr>
        </p:sp>
      </p:grpSp>
      <p:grpSp>
        <p:nvGrpSpPr>
          <p:cNvPr name="Group 37" id="37"/>
          <p:cNvGrpSpPr/>
          <p:nvPr/>
        </p:nvGrpSpPr>
        <p:grpSpPr>
          <a:xfrm rot="0">
            <a:off x="10687050" y="6649810"/>
            <a:ext cx="271462" cy="428625"/>
            <a:chOff x="0" y="0"/>
            <a:chExt cx="361950" cy="571500"/>
          </a:xfrm>
        </p:grpSpPr>
        <p:sp>
          <p:nvSpPr>
            <p:cNvPr name="Freeform 38" id="38" descr="image.png"/>
            <p:cNvSpPr/>
            <p:nvPr/>
          </p:nvSpPr>
          <p:spPr>
            <a:xfrm flipH="false" flipV="false" rot="0">
              <a:off x="0" y="0"/>
              <a:ext cx="361950" cy="571500"/>
            </a:xfrm>
            <a:custGeom>
              <a:avLst/>
              <a:gdLst/>
              <a:ahLst/>
              <a:cxnLst/>
              <a:rect r="r" b="b" t="t" l="l"/>
              <a:pathLst>
                <a:path h="571500" w="361950">
                  <a:moveTo>
                    <a:pt x="0" y="0"/>
                  </a:moveTo>
                  <a:lnTo>
                    <a:pt x="361950" y="0"/>
                  </a:lnTo>
                  <a:lnTo>
                    <a:pt x="361950" y="571500"/>
                  </a:lnTo>
                  <a:lnTo>
                    <a:pt x="0" y="571500"/>
                  </a:lnTo>
                  <a:lnTo>
                    <a:pt x="0" y="0"/>
                  </a:lnTo>
                  <a:close/>
                </a:path>
              </a:pathLst>
            </a:custGeom>
            <a:blipFill>
              <a:blip r:embed="rId9"/>
              <a:stretch>
                <a:fillRect l="0" t="0" r="0" b="-3333"/>
              </a:stretch>
            </a:blipFill>
          </p:spPr>
        </p:sp>
      </p:grpSp>
      <p:grpSp>
        <p:nvGrpSpPr>
          <p:cNvPr name="Group 39" id="39"/>
          <p:cNvGrpSpPr/>
          <p:nvPr/>
        </p:nvGrpSpPr>
        <p:grpSpPr>
          <a:xfrm rot="0">
            <a:off x="14044612" y="6649810"/>
            <a:ext cx="271462" cy="428625"/>
            <a:chOff x="0" y="0"/>
            <a:chExt cx="361950" cy="571500"/>
          </a:xfrm>
        </p:grpSpPr>
        <p:sp>
          <p:nvSpPr>
            <p:cNvPr name="Freeform 40" id="40" descr="image.png"/>
            <p:cNvSpPr/>
            <p:nvPr/>
          </p:nvSpPr>
          <p:spPr>
            <a:xfrm flipH="false" flipV="false" rot="0">
              <a:off x="0" y="0"/>
              <a:ext cx="361950" cy="571500"/>
            </a:xfrm>
            <a:custGeom>
              <a:avLst/>
              <a:gdLst/>
              <a:ahLst/>
              <a:cxnLst/>
              <a:rect r="r" b="b" t="t" l="l"/>
              <a:pathLst>
                <a:path h="571500" w="361950">
                  <a:moveTo>
                    <a:pt x="0" y="0"/>
                  </a:moveTo>
                  <a:lnTo>
                    <a:pt x="361950" y="0"/>
                  </a:lnTo>
                  <a:lnTo>
                    <a:pt x="361950" y="571500"/>
                  </a:lnTo>
                  <a:lnTo>
                    <a:pt x="0" y="571500"/>
                  </a:lnTo>
                  <a:lnTo>
                    <a:pt x="0" y="0"/>
                  </a:lnTo>
                  <a:close/>
                </a:path>
              </a:pathLst>
            </a:custGeom>
            <a:blipFill>
              <a:blip r:embed="rId9"/>
              <a:stretch>
                <a:fillRect l="0" t="0" r="0" b="-3333"/>
              </a:stretch>
            </a:blipFill>
          </p:spPr>
        </p:sp>
      </p:grpSp>
      <p:grpSp>
        <p:nvGrpSpPr>
          <p:cNvPr name="Group 41" id="41"/>
          <p:cNvGrpSpPr/>
          <p:nvPr/>
        </p:nvGrpSpPr>
        <p:grpSpPr>
          <a:xfrm rot="0">
            <a:off x="7858125" y="3983328"/>
            <a:ext cx="2571750" cy="857250"/>
            <a:chOff x="0" y="0"/>
            <a:chExt cx="677333" cy="225778"/>
          </a:xfrm>
        </p:grpSpPr>
        <p:sp>
          <p:nvSpPr>
            <p:cNvPr name="Freeform 42" id="42"/>
            <p:cNvSpPr/>
            <p:nvPr/>
          </p:nvSpPr>
          <p:spPr>
            <a:xfrm flipH="false" flipV="false" rot="0">
              <a:off x="0" y="0"/>
              <a:ext cx="677333" cy="225778"/>
            </a:xfrm>
            <a:custGeom>
              <a:avLst/>
              <a:gdLst/>
              <a:ahLst/>
              <a:cxnLst/>
              <a:rect r="r" b="b" t="t" l="l"/>
              <a:pathLst>
                <a:path h="225778" w="677333">
                  <a:moveTo>
                    <a:pt x="105363" y="0"/>
                  </a:moveTo>
                  <a:lnTo>
                    <a:pt x="571970" y="0"/>
                  </a:lnTo>
                  <a:cubicBezTo>
                    <a:pt x="630161" y="0"/>
                    <a:pt x="677333" y="47173"/>
                    <a:pt x="677333" y="105363"/>
                  </a:cubicBezTo>
                  <a:lnTo>
                    <a:pt x="677333" y="120415"/>
                  </a:lnTo>
                  <a:cubicBezTo>
                    <a:pt x="677333" y="178605"/>
                    <a:pt x="630161" y="225778"/>
                    <a:pt x="571970" y="225778"/>
                  </a:cubicBezTo>
                  <a:lnTo>
                    <a:pt x="105363" y="225778"/>
                  </a:lnTo>
                  <a:cubicBezTo>
                    <a:pt x="47173" y="225778"/>
                    <a:pt x="0" y="178605"/>
                    <a:pt x="0" y="120415"/>
                  </a:cubicBezTo>
                  <a:lnTo>
                    <a:pt x="0" y="105363"/>
                  </a:lnTo>
                  <a:cubicBezTo>
                    <a:pt x="0" y="47173"/>
                    <a:pt x="47173" y="0"/>
                    <a:pt x="105363" y="0"/>
                  </a:cubicBezTo>
                  <a:close/>
                </a:path>
              </a:pathLst>
            </a:custGeom>
            <a:solidFill>
              <a:srgbClr val="B8DAF3"/>
            </a:solidFill>
          </p:spPr>
        </p:sp>
        <p:sp>
          <p:nvSpPr>
            <p:cNvPr name="TextBox 43" id="43"/>
            <p:cNvSpPr txBox="true"/>
            <p:nvPr/>
          </p:nvSpPr>
          <p:spPr>
            <a:xfrm>
              <a:off x="0" y="-19050"/>
              <a:ext cx="677333" cy="244828"/>
            </a:xfrm>
            <a:prstGeom prst="rect">
              <a:avLst/>
            </a:prstGeom>
          </p:spPr>
          <p:txBody>
            <a:bodyPr anchor="ctr" rtlCol="false" tIns="50800" lIns="50800" bIns="50800" rIns="50800"/>
            <a:lstStyle/>
            <a:p>
              <a:pPr algn="ctr">
                <a:lnSpc>
                  <a:spcPts val="2527"/>
                </a:lnSpc>
              </a:pPr>
            </a:p>
          </p:txBody>
        </p:sp>
      </p:grpSp>
      <p:sp>
        <p:nvSpPr>
          <p:cNvPr name="TextBox 44" id="44"/>
          <p:cNvSpPr txBox="true"/>
          <p:nvPr/>
        </p:nvSpPr>
        <p:spPr>
          <a:xfrm rot="0">
            <a:off x="857250" y="2964153"/>
            <a:ext cx="17402175" cy="304800"/>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Workflow Freelancer</a:t>
            </a:r>
          </a:p>
        </p:txBody>
      </p:sp>
      <p:sp>
        <p:nvSpPr>
          <p:cNvPr name="TextBox 45" id="45"/>
          <p:cNvSpPr txBox="true"/>
          <p:nvPr/>
        </p:nvSpPr>
        <p:spPr>
          <a:xfrm rot="0">
            <a:off x="857250" y="5416323"/>
            <a:ext cx="2170212" cy="333375"/>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Workflow Client</a:t>
            </a:r>
          </a:p>
        </p:txBody>
      </p:sp>
      <p:grpSp>
        <p:nvGrpSpPr>
          <p:cNvPr name="Group 46" id="46"/>
          <p:cNvGrpSpPr/>
          <p:nvPr/>
        </p:nvGrpSpPr>
        <p:grpSpPr>
          <a:xfrm rot="0">
            <a:off x="4500562" y="6435498"/>
            <a:ext cx="2571750" cy="857250"/>
            <a:chOff x="0" y="0"/>
            <a:chExt cx="677333" cy="225778"/>
          </a:xfrm>
        </p:grpSpPr>
        <p:sp>
          <p:nvSpPr>
            <p:cNvPr name="Freeform 47" id="47"/>
            <p:cNvSpPr/>
            <p:nvPr/>
          </p:nvSpPr>
          <p:spPr>
            <a:xfrm flipH="false" flipV="false" rot="0">
              <a:off x="0" y="0"/>
              <a:ext cx="677333" cy="225778"/>
            </a:xfrm>
            <a:custGeom>
              <a:avLst/>
              <a:gdLst/>
              <a:ahLst/>
              <a:cxnLst/>
              <a:rect r="r" b="b" t="t" l="l"/>
              <a:pathLst>
                <a:path h="225778" w="677333">
                  <a:moveTo>
                    <a:pt x="105363" y="0"/>
                  </a:moveTo>
                  <a:lnTo>
                    <a:pt x="571970" y="0"/>
                  </a:lnTo>
                  <a:cubicBezTo>
                    <a:pt x="630161" y="0"/>
                    <a:pt x="677333" y="47173"/>
                    <a:pt x="677333" y="105363"/>
                  </a:cubicBezTo>
                  <a:lnTo>
                    <a:pt x="677333" y="120415"/>
                  </a:lnTo>
                  <a:cubicBezTo>
                    <a:pt x="677333" y="178605"/>
                    <a:pt x="630161" y="225778"/>
                    <a:pt x="571970" y="225778"/>
                  </a:cubicBezTo>
                  <a:lnTo>
                    <a:pt x="105363" y="225778"/>
                  </a:lnTo>
                  <a:cubicBezTo>
                    <a:pt x="47173" y="225778"/>
                    <a:pt x="0" y="178605"/>
                    <a:pt x="0" y="120415"/>
                  </a:cubicBezTo>
                  <a:lnTo>
                    <a:pt x="0" y="105363"/>
                  </a:lnTo>
                  <a:cubicBezTo>
                    <a:pt x="0" y="47173"/>
                    <a:pt x="47173" y="0"/>
                    <a:pt x="105363" y="0"/>
                  </a:cubicBezTo>
                  <a:close/>
                </a:path>
              </a:pathLst>
            </a:custGeom>
            <a:solidFill>
              <a:srgbClr val="B8DAF3"/>
            </a:solidFill>
          </p:spPr>
        </p:sp>
        <p:sp>
          <p:nvSpPr>
            <p:cNvPr name="TextBox 48" id="48"/>
            <p:cNvSpPr txBox="true"/>
            <p:nvPr/>
          </p:nvSpPr>
          <p:spPr>
            <a:xfrm>
              <a:off x="0" y="-19050"/>
              <a:ext cx="677333" cy="244828"/>
            </a:xfrm>
            <a:prstGeom prst="rect">
              <a:avLst/>
            </a:prstGeom>
          </p:spPr>
          <p:txBody>
            <a:bodyPr anchor="ctr" rtlCol="false" tIns="50800" lIns="50800" bIns="50800" rIns="50800"/>
            <a:lstStyle/>
            <a:p>
              <a:pPr algn="ctr">
                <a:lnSpc>
                  <a:spcPts val="2527"/>
                </a:lnSpc>
              </a:pPr>
            </a:p>
          </p:txBody>
        </p:sp>
      </p:grpSp>
      <p:grpSp>
        <p:nvGrpSpPr>
          <p:cNvPr name="Group 49" id="49"/>
          <p:cNvGrpSpPr/>
          <p:nvPr/>
        </p:nvGrpSpPr>
        <p:grpSpPr>
          <a:xfrm rot="0">
            <a:off x="7858125" y="6435498"/>
            <a:ext cx="2571750" cy="857250"/>
            <a:chOff x="0" y="0"/>
            <a:chExt cx="677333" cy="225778"/>
          </a:xfrm>
        </p:grpSpPr>
        <p:sp>
          <p:nvSpPr>
            <p:cNvPr name="Freeform 50" id="50"/>
            <p:cNvSpPr/>
            <p:nvPr/>
          </p:nvSpPr>
          <p:spPr>
            <a:xfrm flipH="false" flipV="false" rot="0">
              <a:off x="0" y="0"/>
              <a:ext cx="677333" cy="225778"/>
            </a:xfrm>
            <a:custGeom>
              <a:avLst/>
              <a:gdLst/>
              <a:ahLst/>
              <a:cxnLst/>
              <a:rect r="r" b="b" t="t" l="l"/>
              <a:pathLst>
                <a:path h="225778" w="677333">
                  <a:moveTo>
                    <a:pt x="105363" y="0"/>
                  </a:moveTo>
                  <a:lnTo>
                    <a:pt x="571970" y="0"/>
                  </a:lnTo>
                  <a:cubicBezTo>
                    <a:pt x="630161" y="0"/>
                    <a:pt x="677333" y="47173"/>
                    <a:pt x="677333" y="105363"/>
                  </a:cubicBezTo>
                  <a:lnTo>
                    <a:pt x="677333" y="120415"/>
                  </a:lnTo>
                  <a:cubicBezTo>
                    <a:pt x="677333" y="178605"/>
                    <a:pt x="630161" y="225778"/>
                    <a:pt x="571970" y="225778"/>
                  </a:cubicBezTo>
                  <a:lnTo>
                    <a:pt x="105363" y="225778"/>
                  </a:lnTo>
                  <a:cubicBezTo>
                    <a:pt x="47173" y="225778"/>
                    <a:pt x="0" y="178605"/>
                    <a:pt x="0" y="120415"/>
                  </a:cubicBezTo>
                  <a:lnTo>
                    <a:pt x="0" y="105363"/>
                  </a:lnTo>
                  <a:cubicBezTo>
                    <a:pt x="0" y="47173"/>
                    <a:pt x="47173" y="0"/>
                    <a:pt x="105363" y="0"/>
                  </a:cubicBezTo>
                  <a:close/>
                </a:path>
              </a:pathLst>
            </a:custGeom>
            <a:solidFill>
              <a:srgbClr val="B8DAF3"/>
            </a:solidFill>
          </p:spPr>
        </p:sp>
        <p:sp>
          <p:nvSpPr>
            <p:cNvPr name="TextBox 51" id="51"/>
            <p:cNvSpPr txBox="true"/>
            <p:nvPr/>
          </p:nvSpPr>
          <p:spPr>
            <a:xfrm>
              <a:off x="0" y="-19050"/>
              <a:ext cx="677333" cy="244828"/>
            </a:xfrm>
            <a:prstGeom prst="rect">
              <a:avLst/>
            </a:prstGeom>
          </p:spPr>
          <p:txBody>
            <a:bodyPr anchor="ctr" rtlCol="false" tIns="50800" lIns="50800" bIns="50800" rIns="50800"/>
            <a:lstStyle/>
            <a:p>
              <a:pPr algn="ctr">
                <a:lnSpc>
                  <a:spcPts val="2527"/>
                </a:lnSpc>
              </a:pPr>
            </a:p>
          </p:txBody>
        </p:sp>
      </p:grpSp>
      <p:grpSp>
        <p:nvGrpSpPr>
          <p:cNvPr name="Group 52" id="52"/>
          <p:cNvGrpSpPr/>
          <p:nvPr/>
        </p:nvGrpSpPr>
        <p:grpSpPr>
          <a:xfrm rot="0">
            <a:off x="14573250" y="6435498"/>
            <a:ext cx="2571750" cy="857250"/>
            <a:chOff x="0" y="0"/>
            <a:chExt cx="677333" cy="225778"/>
          </a:xfrm>
        </p:grpSpPr>
        <p:sp>
          <p:nvSpPr>
            <p:cNvPr name="Freeform 53" id="53"/>
            <p:cNvSpPr/>
            <p:nvPr/>
          </p:nvSpPr>
          <p:spPr>
            <a:xfrm flipH="false" flipV="false" rot="0">
              <a:off x="0" y="0"/>
              <a:ext cx="677333" cy="225778"/>
            </a:xfrm>
            <a:custGeom>
              <a:avLst/>
              <a:gdLst/>
              <a:ahLst/>
              <a:cxnLst/>
              <a:rect r="r" b="b" t="t" l="l"/>
              <a:pathLst>
                <a:path h="225778" w="677333">
                  <a:moveTo>
                    <a:pt x="105363" y="0"/>
                  </a:moveTo>
                  <a:lnTo>
                    <a:pt x="571970" y="0"/>
                  </a:lnTo>
                  <a:cubicBezTo>
                    <a:pt x="630161" y="0"/>
                    <a:pt x="677333" y="47173"/>
                    <a:pt x="677333" y="105363"/>
                  </a:cubicBezTo>
                  <a:lnTo>
                    <a:pt x="677333" y="120415"/>
                  </a:lnTo>
                  <a:cubicBezTo>
                    <a:pt x="677333" y="178605"/>
                    <a:pt x="630161" y="225778"/>
                    <a:pt x="571970" y="225778"/>
                  </a:cubicBezTo>
                  <a:lnTo>
                    <a:pt x="105363" y="225778"/>
                  </a:lnTo>
                  <a:cubicBezTo>
                    <a:pt x="47173" y="225778"/>
                    <a:pt x="0" y="178605"/>
                    <a:pt x="0" y="120415"/>
                  </a:cubicBezTo>
                  <a:lnTo>
                    <a:pt x="0" y="105363"/>
                  </a:lnTo>
                  <a:cubicBezTo>
                    <a:pt x="0" y="47173"/>
                    <a:pt x="47173" y="0"/>
                    <a:pt x="105363" y="0"/>
                  </a:cubicBezTo>
                  <a:close/>
                </a:path>
              </a:pathLst>
            </a:custGeom>
            <a:solidFill>
              <a:srgbClr val="B8DAF3"/>
            </a:solidFill>
          </p:spPr>
        </p:sp>
        <p:sp>
          <p:nvSpPr>
            <p:cNvPr name="TextBox 54" id="54"/>
            <p:cNvSpPr txBox="true"/>
            <p:nvPr/>
          </p:nvSpPr>
          <p:spPr>
            <a:xfrm>
              <a:off x="0" y="-19050"/>
              <a:ext cx="677333" cy="244828"/>
            </a:xfrm>
            <a:prstGeom prst="rect">
              <a:avLst/>
            </a:prstGeom>
          </p:spPr>
          <p:txBody>
            <a:bodyPr anchor="ctr" rtlCol="false" tIns="50800" lIns="50800" bIns="50800" rIns="50800"/>
            <a:lstStyle/>
            <a:p>
              <a:pPr algn="ctr">
                <a:lnSpc>
                  <a:spcPts val="2527"/>
                </a:lnSpc>
              </a:pPr>
            </a:p>
          </p:txBody>
        </p:sp>
      </p:grpSp>
      <p:grpSp>
        <p:nvGrpSpPr>
          <p:cNvPr name="Group 55" id="55"/>
          <p:cNvGrpSpPr/>
          <p:nvPr/>
        </p:nvGrpSpPr>
        <p:grpSpPr>
          <a:xfrm rot="0">
            <a:off x="11215688" y="6435498"/>
            <a:ext cx="2571750" cy="857250"/>
            <a:chOff x="0" y="0"/>
            <a:chExt cx="677333" cy="225778"/>
          </a:xfrm>
        </p:grpSpPr>
        <p:sp>
          <p:nvSpPr>
            <p:cNvPr name="Freeform 56" id="56"/>
            <p:cNvSpPr/>
            <p:nvPr/>
          </p:nvSpPr>
          <p:spPr>
            <a:xfrm flipH="false" flipV="false" rot="0">
              <a:off x="0" y="0"/>
              <a:ext cx="677333" cy="225778"/>
            </a:xfrm>
            <a:custGeom>
              <a:avLst/>
              <a:gdLst/>
              <a:ahLst/>
              <a:cxnLst/>
              <a:rect r="r" b="b" t="t" l="l"/>
              <a:pathLst>
                <a:path h="225778" w="677333">
                  <a:moveTo>
                    <a:pt x="105363" y="0"/>
                  </a:moveTo>
                  <a:lnTo>
                    <a:pt x="571970" y="0"/>
                  </a:lnTo>
                  <a:cubicBezTo>
                    <a:pt x="630161" y="0"/>
                    <a:pt x="677333" y="47173"/>
                    <a:pt x="677333" y="105363"/>
                  </a:cubicBezTo>
                  <a:lnTo>
                    <a:pt x="677333" y="120415"/>
                  </a:lnTo>
                  <a:cubicBezTo>
                    <a:pt x="677333" y="178605"/>
                    <a:pt x="630161" y="225778"/>
                    <a:pt x="571970" y="225778"/>
                  </a:cubicBezTo>
                  <a:lnTo>
                    <a:pt x="105363" y="225778"/>
                  </a:lnTo>
                  <a:cubicBezTo>
                    <a:pt x="47173" y="225778"/>
                    <a:pt x="0" y="178605"/>
                    <a:pt x="0" y="120415"/>
                  </a:cubicBezTo>
                  <a:lnTo>
                    <a:pt x="0" y="105363"/>
                  </a:lnTo>
                  <a:cubicBezTo>
                    <a:pt x="0" y="47173"/>
                    <a:pt x="47173" y="0"/>
                    <a:pt x="105363" y="0"/>
                  </a:cubicBezTo>
                  <a:close/>
                </a:path>
              </a:pathLst>
            </a:custGeom>
            <a:solidFill>
              <a:srgbClr val="B8DAF3"/>
            </a:solidFill>
          </p:spPr>
        </p:sp>
        <p:sp>
          <p:nvSpPr>
            <p:cNvPr name="TextBox 57" id="57"/>
            <p:cNvSpPr txBox="true"/>
            <p:nvPr/>
          </p:nvSpPr>
          <p:spPr>
            <a:xfrm>
              <a:off x="0" y="-19050"/>
              <a:ext cx="677333" cy="244828"/>
            </a:xfrm>
            <a:prstGeom prst="rect">
              <a:avLst/>
            </a:prstGeom>
          </p:spPr>
          <p:txBody>
            <a:bodyPr anchor="ctr" rtlCol="false" tIns="50800" lIns="50800" bIns="50800" rIns="50800"/>
            <a:lstStyle/>
            <a:p>
              <a:pPr algn="ctr">
                <a:lnSpc>
                  <a:spcPts val="2527"/>
                </a:lnSpc>
              </a:pPr>
            </a:p>
          </p:txBody>
        </p:sp>
      </p:grpSp>
      <p:sp>
        <p:nvSpPr>
          <p:cNvPr name="TextBox 58" id="58"/>
          <p:cNvSpPr txBox="true"/>
          <p:nvPr/>
        </p:nvSpPr>
        <p:spPr>
          <a:xfrm rot="0">
            <a:off x="5143500" y="6690451"/>
            <a:ext cx="1285875" cy="299719"/>
          </a:xfrm>
          <a:prstGeom prst="rect">
            <a:avLst/>
          </a:prstGeom>
        </p:spPr>
        <p:txBody>
          <a:bodyPr anchor="t" rtlCol="false" tIns="0" lIns="0" bIns="0" rIns="0">
            <a:spAutoFit/>
          </a:bodyPr>
          <a:lstStyle/>
          <a:p>
            <a:pPr algn="ctr">
              <a:lnSpc>
                <a:spcPts val="2380"/>
              </a:lnSpc>
            </a:pPr>
            <a:r>
              <a:rPr lang="en-US" sz="1700" b="true">
                <a:solidFill>
                  <a:srgbClr val="1E293B"/>
                </a:solidFill>
                <a:latin typeface="Comfortaa Bold"/>
                <a:ea typeface="Comfortaa Bold"/>
                <a:cs typeface="Comfortaa Bold"/>
                <a:sym typeface="Comfortaa Bold"/>
              </a:rPr>
              <a:t>Post a job</a:t>
            </a:r>
          </a:p>
        </p:txBody>
      </p:sp>
      <p:sp>
        <p:nvSpPr>
          <p:cNvPr name="TextBox 59" id="59"/>
          <p:cNvSpPr txBox="true"/>
          <p:nvPr/>
        </p:nvSpPr>
        <p:spPr>
          <a:xfrm rot="0">
            <a:off x="8501063" y="4238281"/>
            <a:ext cx="1285875" cy="299719"/>
          </a:xfrm>
          <a:prstGeom prst="rect">
            <a:avLst/>
          </a:prstGeom>
        </p:spPr>
        <p:txBody>
          <a:bodyPr anchor="t" rtlCol="false" tIns="0" lIns="0" bIns="0" rIns="0">
            <a:spAutoFit/>
          </a:bodyPr>
          <a:lstStyle/>
          <a:p>
            <a:pPr algn="ctr">
              <a:lnSpc>
                <a:spcPts val="2380"/>
              </a:lnSpc>
            </a:pPr>
            <a:r>
              <a:rPr lang="en-US" sz="1700" b="true">
                <a:solidFill>
                  <a:srgbClr val="1E293B"/>
                </a:solidFill>
                <a:latin typeface="Comfortaa Bold"/>
                <a:ea typeface="Comfortaa Bold"/>
                <a:cs typeface="Comfortaa Bold"/>
                <a:sym typeface="Comfortaa Bold"/>
              </a:rPr>
              <a:t>Apply</a:t>
            </a:r>
          </a:p>
        </p:txBody>
      </p:sp>
      <p:sp>
        <p:nvSpPr>
          <p:cNvPr name="TextBox 60" id="60"/>
          <p:cNvSpPr txBox="true"/>
          <p:nvPr/>
        </p:nvSpPr>
        <p:spPr>
          <a:xfrm rot="0">
            <a:off x="8230257" y="6690451"/>
            <a:ext cx="1827485" cy="299719"/>
          </a:xfrm>
          <a:prstGeom prst="rect">
            <a:avLst/>
          </a:prstGeom>
        </p:spPr>
        <p:txBody>
          <a:bodyPr anchor="t" rtlCol="false" tIns="0" lIns="0" bIns="0" rIns="0">
            <a:spAutoFit/>
          </a:bodyPr>
          <a:lstStyle/>
          <a:p>
            <a:pPr algn="ctr">
              <a:lnSpc>
                <a:spcPts val="2380"/>
              </a:lnSpc>
            </a:pPr>
            <a:r>
              <a:rPr lang="en-US" sz="1700" b="true">
                <a:solidFill>
                  <a:srgbClr val="1E293B"/>
                </a:solidFill>
                <a:latin typeface="Comfortaa Bold"/>
                <a:ea typeface="Comfortaa Bold"/>
                <a:cs typeface="Comfortaa Bold"/>
                <a:sym typeface="Comfortaa Bold"/>
              </a:rPr>
              <a:t>Pilih Freelancer</a:t>
            </a:r>
          </a:p>
        </p:txBody>
      </p:sp>
      <p:sp>
        <p:nvSpPr>
          <p:cNvPr name="TextBox 61" id="61"/>
          <p:cNvSpPr txBox="true"/>
          <p:nvPr/>
        </p:nvSpPr>
        <p:spPr>
          <a:xfrm rot="0">
            <a:off x="11537156" y="6690451"/>
            <a:ext cx="1928812" cy="299719"/>
          </a:xfrm>
          <a:prstGeom prst="rect">
            <a:avLst/>
          </a:prstGeom>
        </p:spPr>
        <p:txBody>
          <a:bodyPr anchor="t" rtlCol="false" tIns="0" lIns="0" bIns="0" rIns="0">
            <a:spAutoFit/>
          </a:bodyPr>
          <a:lstStyle/>
          <a:p>
            <a:pPr algn="ctr">
              <a:lnSpc>
                <a:spcPts val="2380"/>
              </a:lnSpc>
            </a:pPr>
            <a:r>
              <a:rPr lang="en-US" sz="1700" b="true">
                <a:solidFill>
                  <a:srgbClr val="1E293B"/>
                </a:solidFill>
                <a:latin typeface="Comfortaa Bold"/>
                <a:ea typeface="Comfortaa Bold"/>
                <a:cs typeface="Comfortaa Bold"/>
                <a:sym typeface="Comfortaa Bold"/>
              </a:rPr>
              <a:t>Kerjaan Selesai</a:t>
            </a:r>
          </a:p>
        </p:txBody>
      </p:sp>
      <p:sp>
        <p:nvSpPr>
          <p:cNvPr name="TextBox 62" id="62"/>
          <p:cNvSpPr txBox="true"/>
          <p:nvPr/>
        </p:nvSpPr>
        <p:spPr>
          <a:xfrm rot="0">
            <a:off x="14894719" y="6690451"/>
            <a:ext cx="1928812" cy="299719"/>
          </a:xfrm>
          <a:prstGeom prst="rect">
            <a:avLst/>
          </a:prstGeom>
        </p:spPr>
        <p:txBody>
          <a:bodyPr anchor="t" rtlCol="false" tIns="0" lIns="0" bIns="0" rIns="0">
            <a:spAutoFit/>
          </a:bodyPr>
          <a:lstStyle/>
          <a:p>
            <a:pPr algn="ctr">
              <a:lnSpc>
                <a:spcPts val="2380"/>
              </a:lnSpc>
            </a:pPr>
            <a:r>
              <a:rPr lang="en-US" sz="1700" b="true">
                <a:solidFill>
                  <a:srgbClr val="1E293B"/>
                </a:solidFill>
                <a:latin typeface="Comfortaa Bold"/>
                <a:ea typeface="Comfortaa Bold"/>
                <a:cs typeface="Comfortaa Bold"/>
                <a:sym typeface="Comfortaa Bold"/>
              </a:rPr>
              <a:t>Bayar!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3800475"/>
            <a:ext cx="8001000" cy="4014788"/>
            <a:chOff x="0" y="0"/>
            <a:chExt cx="10668000" cy="5353050"/>
          </a:xfrm>
        </p:grpSpPr>
        <p:sp>
          <p:nvSpPr>
            <p:cNvPr name="Freeform 5" id="5" descr="image.png"/>
            <p:cNvSpPr/>
            <p:nvPr/>
          </p:nvSpPr>
          <p:spPr>
            <a:xfrm flipH="false" flipV="false" rot="0">
              <a:off x="0" y="0"/>
              <a:ext cx="10668000" cy="5353050"/>
            </a:xfrm>
            <a:custGeom>
              <a:avLst/>
              <a:gdLst/>
              <a:ahLst/>
              <a:cxnLst/>
              <a:rect r="r" b="b" t="t" l="l"/>
              <a:pathLst>
                <a:path h="5353050" w="10668000">
                  <a:moveTo>
                    <a:pt x="0" y="0"/>
                  </a:moveTo>
                  <a:lnTo>
                    <a:pt x="10668000" y="0"/>
                  </a:lnTo>
                  <a:lnTo>
                    <a:pt x="10668000" y="5353050"/>
                  </a:lnTo>
                  <a:lnTo>
                    <a:pt x="0" y="5353050"/>
                  </a:lnTo>
                  <a:lnTo>
                    <a:pt x="0" y="0"/>
                  </a:lnTo>
                  <a:close/>
                </a:path>
              </a:pathLst>
            </a:custGeom>
            <a:blipFill>
              <a:blip r:embed="rId4"/>
              <a:stretch>
                <a:fillRect l="0" t="0" r="0" b="0"/>
              </a:stretch>
            </a:blipFill>
          </p:spPr>
        </p:sp>
      </p:grpSp>
      <p:grpSp>
        <p:nvGrpSpPr>
          <p:cNvPr name="Group 6" id="6"/>
          <p:cNvGrpSpPr/>
          <p:nvPr/>
        </p:nvGrpSpPr>
        <p:grpSpPr>
          <a:xfrm rot="0">
            <a:off x="9429750" y="3800475"/>
            <a:ext cx="8001000" cy="4014788"/>
            <a:chOff x="0" y="0"/>
            <a:chExt cx="10668000" cy="5353050"/>
          </a:xfrm>
        </p:grpSpPr>
        <p:sp>
          <p:nvSpPr>
            <p:cNvPr name="Freeform 7" id="7" descr="image.png"/>
            <p:cNvSpPr/>
            <p:nvPr/>
          </p:nvSpPr>
          <p:spPr>
            <a:xfrm flipH="false" flipV="false" rot="0">
              <a:off x="0" y="0"/>
              <a:ext cx="10668000" cy="5353050"/>
            </a:xfrm>
            <a:custGeom>
              <a:avLst/>
              <a:gdLst/>
              <a:ahLst/>
              <a:cxnLst/>
              <a:rect r="r" b="b" t="t" l="l"/>
              <a:pathLst>
                <a:path h="5353050" w="10668000">
                  <a:moveTo>
                    <a:pt x="0" y="0"/>
                  </a:moveTo>
                  <a:lnTo>
                    <a:pt x="10668000" y="0"/>
                  </a:lnTo>
                  <a:lnTo>
                    <a:pt x="10668000" y="5353050"/>
                  </a:lnTo>
                  <a:lnTo>
                    <a:pt x="0" y="5353050"/>
                  </a:lnTo>
                  <a:lnTo>
                    <a:pt x="0" y="0"/>
                  </a:lnTo>
                  <a:close/>
                </a:path>
              </a:pathLst>
            </a:custGeom>
            <a:blipFill>
              <a:blip r:embed="rId5"/>
              <a:stretch>
                <a:fillRect l="0" t="0" r="0" b="0"/>
              </a:stretch>
            </a:blipFill>
          </p:spPr>
        </p:sp>
      </p:grpSp>
      <p:grpSp>
        <p:nvGrpSpPr>
          <p:cNvPr name="Group 8" id="8"/>
          <p:cNvGrpSpPr/>
          <p:nvPr/>
        </p:nvGrpSpPr>
        <p:grpSpPr>
          <a:xfrm rot="0">
            <a:off x="1385888" y="5272088"/>
            <a:ext cx="6943725" cy="1000125"/>
            <a:chOff x="0" y="0"/>
            <a:chExt cx="9258300" cy="1333500"/>
          </a:xfrm>
        </p:grpSpPr>
        <p:sp>
          <p:nvSpPr>
            <p:cNvPr name="Freeform 9" id="9" descr="image.png"/>
            <p:cNvSpPr/>
            <p:nvPr/>
          </p:nvSpPr>
          <p:spPr>
            <a:xfrm flipH="false" flipV="false" rot="0">
              <a:off x="0" y="0"/>
              <a:ext cx="9258300" cy="1333500"/>
            </a:xfrm>
            <a:custGeom>
              <a:avLst/>
              <a:gdLst/>
              <a:ahLst/>
              <a:cxnLst/>
              <a:rect r="r" b="b" t="t" l="l"/>
              <a:pathLst>
                <a:path h="1333500" w="9258300">
                  <a:moveTo>
                    <a:pt x="0" y="0"/>
                  </a:moveTo>
                  <a:lnTo>
                    <a:pt x="9258300" y="0"/>
                  </a:lnTo>
                  <a:lnTo>
                    <a:pt x="9258300" y="1333500"/>
                  </a:lnTo>
                  <a:lnTo>
                    <a:pt x="0" y="1333500"/>
                  </a:lnTo>
                  <a:lnTo>
                    <a:pt x="0" y="0"/>
                  </a:lnTo>
                  <a:close/>
                </a:path>
              </a:pathLst>
            </a:custGeom>
            <a:blipFill>
              <a:blip r:embed="rId6"/>
              <a:stretch>
                <a:fillRect l="0" t="0" r="-823" b="0"/>
              </a:stretch>
            </a:blipFill>
          </p:spPr>
        </p:sp>
      </p:grpSp>
      <p:grpSp>
        <p:nvGrpSpPr>
          <p:cNvPr name="Group 10" id="10"/>
          <p:cNvGrpSpPr/>
          <p:nvPr/>
        </p:nvGrpSpPr>
        <p:grpSpPr>
          <a:xfrm rot="0">
            <a:off x="2251451" y="5579269"/>
            <a:ext cx="400050" cy="457200"/>
            <a:chOff x="0" y="0"/>
            <a:chExt cx="533400" cy="609600"/>
          </a:xfrm>
        </p:grpSpPr>
        <p:sp>
          <p:nvSpPr>
            <p:cNvPr name="Freeform 11" id="11" descr="image.png"/>
            <p:cNvSpPr/>
            <p:nvPr/>
          </p:nvSpPr>
          <p:spPr>
            <a:xfrm flipH="false" flipV="false" rot="0">
              <a:off x="0" y="0"/>
              <a:ext cx="533400" cy="609600"/>
            </a:xfrm>
            <a:custGeom>
              <a:avLst/>
              <a:gdLst/>
              <a:ahLst/>
              <a:cxnLst/>
              <a:rect r="r" b="b" t="t" l="l"/>
              <a:pathLst>
                <a:path h="609600" w="533400">
                  <a:moveTo>
                    <a:pt x="0" y="0"/>
                  </a:moveTo>
                  <a:lnTo>
                    <a:pt x="533400" y="0"/>
                  </a:lnTo>
                  <a:lnTo>
                    <a:pt x="533400" y="609600"/>
                  </a:lnTo>
                  <a:lnTo>
                    <a:pt x="0" y="609600"/>
                  </a:lnTo>
                  <a:lnTo>
                    <a:pt x="0" y="0"/>
                  </a:lnTo>
                  <a:close/>
                </a:path>
              </a:pathLst>
            </a:custGeom>
            <a:blipFill>
              <a:blip r:embed="rId7"/>
              <a:stretch>
                <a:fillRect l="0" t="0" r="-3571" b="0"/>
              </a:stretch>
            </a:blipFill>
          </p:spPr>
        </p:sp>
      </p:grpSp>
      <p:grpSp>
        <p:nvGrpSpPr>
          <p:cNvPr name="Group 12" id="12"/>
          <p:cNvGrpSpPr/>
          <p:nvPr/>
        </p:nvGrpSpPr>
        <p:grpSpPr>
          <a:xfrm rot="0">
            <a:off x="857250" y="857250"/>
            <a:ext cx="17402175" cy="757238"/>
            <a:chOff x="0" y="0"/>
            <a:chExt cx="23202900" cy="1009650"/>
          </a:xfrm>
        </p:grpSpPr>
        <p:sp>
          <p:nvSpPr>
            <p:cNvPr name="Freeform 13" id="13"/>
            <p:cNvSpPr/>
            <p:nvPr/>
          </p:nvSpPr>
          <p:spPr>
            <a:xfrm flipH="false" flipV="false" rot="0">
              <a:off x="0" y="0"/>
              <a:ext cx="23202900" cy="1009650"/>
            </a:xfrm>
            <a:custGeom>
              <a:avLst/>
              <a:gdLst/>
              <a:ahLst/>
              <a:cxnLst/>
              <a:rect r="r" b="b" t="t" l="l"/>
              <a:pathLst>
                <a:path h="1009650" w="23202900">
                  <a:moveTo>
                    <a:pt x="0" y="0"/>
                  </a:moveTo>
                  <a:lnTo>
                    <a:pt x="23202900" y="0"/>
                  </a:lnTo>
                  <a:lnTo>
                    <a:pt x="23202900" y="1009650"/>
                  </a:lnTo>
                  <a:lnTo>
                    <a:pt x="0" y="1009650"/>
                  </a:lnTo>
                  <a:close/>
                </a:path>
              </a:pathLst>
            </a:custGeom>
            <a:blipFill>
              <a:blip r:embed="rId8">
                <a:alphaModFix amt="0"/>
              </a:blip>
              <a:stretch>
                <a:fillRect l="0" t="-397788" r="0" b="-397788"/>
              </a:stretch>
            </a:blipFill>
          </p:spPr>
        </p:sp>
        <p:sp>
          <p:nvSpPr>
            <p:cNvPr name="TextBox 14" id="14"/>
            <p:cNvSpPr txBox="true"/>
            <p:nvPr/>
          </p:nvSpPr>
          <p:spPr>
            <a:xfrm>
              <a:off x="0" y="-9525"/>
              <a:ext cx="23202900" cy="1019175"/>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Database &amp; Tech Stack</a:t>
              </a:r>
            </a:p>
          </p:txBody>
        </p:sp>
      </p:grpSp>
      <p:sp>
        <p:nvSpPr>
          <p:cNvPr name="Freeform 15" id="15"/>
          <p:cNvSpPr/>
          <p:nvPr/>
        </p:nvSpPr>
        <p:spPr>
          <a:xfrm flipH="false" flipV="false" rot="0">
            <a:off x="1385887" y="6500812"/>
            <a:ext cx="3576737" cy="1010428"/>
          </a:xfrm>
          <a:custGeom>
            <a:avLst/>
            <a:gdLst/>
            <a:ahLst/>
            <a:cxnLst/>
            <a:rect r="r" b="b" t="t" l="l"/>
            <a:pathLst>
              <a:path h="1010428" w="3576737">
                <a:moveTo>
                  <a:pt x="0" y="0"/>
                </a:moveTo>
                <a:lnTo>
                  <a:pt x="3576737" y="0"/>
                </a:lnTo>
                <a:lnTo>
                  <a:pt x="3576737" y="1010429"/>
                </a:lnTo>
                <a:lnTo>
                  <a:pt x="0" y="1010429"/>
                </a:lnTo>
                <a:lnTo>
                  <a:pt x="0" y="0"/>
                </a:lnTo>
                <a:close/>
              </a:path>
            </a:pathLst>
          </a:custGeom>
          <a:blipFill>
            <a:blip r:embed="rId9"/>
            <a:stretch>
              <a:fillRect l="0" t="0" r="0" b="0"/>
            </a:stretch>
          </a:blipFill>
        </p:spPr>
      </p:sp>
      <p:sp>
        <p:nvSpPr>
          <p:cNvPr name="TextBox 16" id="16"/>
          <p:cNvSpPr txBox="true"/>
          <p:nvPr/>
        </p:nvSpPr>
        <p:spPr>
          <a:xfrm rot="0">
            <a:off x="1385888" y="4310062"/>
            <a:ext cx="4691801" cy="333375"/>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PostgreSQL Tables</a:t>
            </a:r>
          </a:p>
        </p:txBody>
      </p:sp>
      <p:sp>
        <p:nvSpPr>
          <p:cNvPr name="TextBox 17" id="17"/>
          <p:cNvSpPr txBox="true"/>
          <p:nvPr/>
        </p:nvSpPr>
        <p:spPr>
          <a:xfrm rot="0">
            <a:off x="1385888" y="4757738"/>
            <a:ext cx="6943725" cy="417195"/>
          </a:xfrm>
          <a:prstGeom prst="rect">
            <a:avLst/>
          </a:prstGeom>
        </p:spPr>
        <p:txBody>
          <a:bodyPr anchor="t" rtlCol="false" tIns="0" lIns="0" bIns="0" rIns="0">
            <a:spAutoFit/>
          </a:bodyPr>
          <a:lstStyle/>
          <a:p>
            <a:pPr algn="l">
              <a:lnSpc>
                <a:spcPts val="3645"/>
              </a:lnSpc>
            </a:pPr>
            <a:r>
              <a:rPr lang="en-US" sz="2025">
                <a:solidFill>
                  <a:srgbClr val="64748B"/>
                </a:solidFill>
                <a:latin typeface="Quicksand"/>
                <a:ea typeface="Quicksand"/>
                <a:cs typeface="Quicksand"/>
                <a:sym typeface="Quicksand"/>
              </a:rPr>
              <a:t>Users, Projects, Contracts, Messages, Reviews.</a:t>
            </a:r>
          </a:p>
        </p:txBody>
      </p:sp>
      <p:sp>
        <p:nvSpPr>
          <p:cNvPr name="TextBox 18" id="18"/>
          <p:cNvSpPr txBox="true"/>
          <p:nvPr/>
        </p:nvSpPr>
        <p:spPr>
          <a:xfrm rot="0">
            <a:off x="9958388" y="4310062"/>
            <a:ext cx="7290911" cy="304800"/>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Teknologi</a:t>
            </a:r>
          </a:p>
        </p:txBody>
      </p:sp>
      <p:sp>
        <p:nvSpPr>
          <p:cNvPr name="TextBox 19" id="19"/>
          <p:cNvSpPr txBox="true"/>
          <p:nvPr/>
        </p:nvSpPr>
        <p:spPr>
          <a:xfrm rot="0">
            <a:off x="9958388" y="4786313"/>
            <a:ext cx="6943725" cy="614363"/>
          </a:xfrm>
          <a:prstGeom prst="rect">
            <a:avLst/>
          </a:prstGeom>
        </p:spPr>
        <p:txBody>
          <a:bodyPr anchor="t" rtlCol="false" tIns="0" lIns="0" bIns="0" rIns="0">
            <a:spAutoFit/>
          </a:bodyPr>
          <a:lstStyle/>
          <a:p>
            <a:pPr algn="l">
              <a:lnSpc>
                <a:spcPts val="4455"/>
              </a:lnSpc>
            </a:pPr>
            <a:r>
              <a:rPr lang="en-US" b="true" sz="2475">
                <a:solidFill>
                  <a:srgbClr val="1E293B"/>
                </a:solidFill>
                <a:latin typeface="Quicksand Bold"/>
                <a:ea typeface="Quicksand Bold"/>
                <a:cs typeface="Quicksand Bold"/>
                <a:sym typeface="Quicksand Bold"/>
              </a:rPr>
              <a:t>Frontend:</a:t>
            </a:r>
            <a:r>
              <a:rPr lang="en-US" sz="2475">
                <a:solidFill>
                  <a:srgbClr val="64748B"/>
                </a:solidFill>
                <a:latin typeface="Quicksand"/>
                <a:ea typeface="Quicksand"/>
                <a:cs typeface="Quicksand"/>
                <a:sym typeface="Quicksand"/>
              </a:rPr>
              <a:t> Next.js / React</a:t>
            </a:r>
          </a:p>
        </p:txBody>
      </p:sp>
      <p:sp>
        <p:nvSpPr>
          <p:cNvPr name="TextBox 20" id="20"/>
          <p:cNvSpPr txBox="true"/>
          <p:nvPr/>
        </p:nvSpPr>
        <p:spPr>
          <a:xfrm rot="0">
            <a:off x="9958388" y="5572125"/>
            <a:ext cx="6943725" cy="614363"/>
          </a:xfrm>
          <a:prstGeom prst="rect">
            <a:avLst/>
          </a:prstGeom>
        </p:spPr>
        <p:txBody>
          <a:bodyPr anchor="t" rtlCol="false" tIns="0" lIns="0" bIns="0" rIns="0">
            <a:spAutoFit/>
          </a:bodyPr>
          <a:lstStyle/>
          <a:p>
            <a:pPr algn="l">
              <a:lnSpc>
                <a:spcPts val="4455"/>
              </a:lnSpc>
            </a:pPr>
            <a:r>
              <a:rPr lang="en-US" b="true" sz="2475">
                <a:solidFill>
                  <a:srgbClr val="1E293B"/>
                </a:solidFill>
                <a:latin typeface="Quicksand Bold"/>
                <a:ea typeface="Quicksand Bold"/>
                <a:cs typeface="Quicksand Bold"/>
                <a:sym typeface="Quicksand Bold"/>
              </a:rPr>
              <a:t>Backend:</a:t>
            </a:r>
            <a:r>
              <a:rPr lang="en-US" sz="2475">
                <a:solidFill>
                  <a:srgbClr val="64748B"/>
                </a:solidFill>
                <a:latin typeface="Quicksand"/>
                <a:ea typeface="Quicksand"/>
                <a:cs typeface="Quicksand"/>
                <a:sym typeface="Quicksand"/>
              </a:rPr>
              <a:t> Node.js / Express</a:t>
            </a:r>
          </a:p>
        </p:txBody>
      </p:sp>
      <p:sp>
        <p:nvSpPr>
          <p:cNvPr name="TextBox 21" id="21"/>
          <p:cNvSpPr txBox="true"/>
          <p:nvPr/>
        </p:nvSpPr>
        <p:spPr>
          <a:xfrm rot="0">
            <a:off x="9958388" y="6357937"/>
            <a:ext cx="6943725" cy="614363"/>
          </a:xfrm>
          <a:prstGeom prst="rect">
            <a:avLst/>
          </a:prstGeom>
        </p:spPr>
        <p:txBody>
          <a:bodyPr anchor="t" rtlCol="false" tIns="0" lIns="0" bIns="0" rIns="0">
            <a:spAutoFit/>
          </a:bodyPr>
          <a:lstStyle/>
          <a:p>
            <a:pPr algn="l">
              <a:lnSpc>
                <a:spcPts val="4455"/>
              </a:lnSpc>
            </a:pPr>
            <a:r>
              <a:rPr lang="en-US" b="true" sz="2475">
                <a:solidFill>
                  <a:srgbClr val="1E293B"/>
                </a:solidFill>
                <a:latin typeface="Quicksand Bold"/>
                <a:ea typeface="Quicksand Bold"/>
                <a:cs typeface="Quicksand Bold"/>
                <a:sym typeface="Quicksand Bold"/>
              </a:rPr>
              <a:t>Storage:</a:t>
            </a:r>
            <a:r>
              <a:rPr lang="en-US" sz="2475">
                <a:solidFill>
                  <a:srgbClr val="64748B"/>
                </a:solidFill>
                <a:latin typeface="Quicksand"/>
                <a:ea typeface="Quicksand"/>
                <a:cs typeface="Quicksand"/>
                <a:sym typeface="Quicksand"/>
              </a:rPr>
              <a:t> PostgreSQL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Login</a:t>
              </a:r>
            </a:p>
          </p:txBody>
        </p:sp>
      </p:grpSp>
      <p:sp>
        <p:nvSpPr>
          <p:cNvPr name="Freeform 9" id="9"/>
          <p:cNvSpPr/>
          <p:nvPr/>
        </p:nvSpPr>
        <p:spPr>
          <a:xfrm flipH="false" flipV="false" rot="0">
            <a:off x="11292729" y="2484383"/>
            <a:ext cx="5770380" cy="6326242"/>
          </a:xfrm>
          <a:custGeom>
            <a:avLst/>
            <a:gdLst/>
            <a:ahLst/>
            <a:cxnLst/>
            <a:rect r="r" b="b" t="t" l="l"/>
            <a:pathLst>
              <a:path h="6326242" w="5770380">
                <a:moveTo>
                  <a:pt x="0" y="0"/>
                </a:moveTo>
                <a:lnTo>
                  <a:pt x="5770380" y="0"/>
                </a:lnTo>
                <a:lnTo>
                  <a:pt x="5770380" y="6326242"/>
                </a:lnTo>
                <a:lnTo>
                  <a:pt x="0" y="6326242"/>
                </a:lnTo>
                <a:lnTo>
                  <a:pt x="0" y="0"/>
                </a:lnTo>
                <a:close/>
              </a:path>
            </a:pathLst>
          </a:custGeom>
          <a:blipFill>
            <a:blip r:embed="rId6"/>
            <a:stretch>
              <a:fillRect l="0" t="0" r="0" b="0"/>
            </a:stretch>
          </a:blipFill>
        </p:spPr>
      </p:sp>
      <p:sp>
        <p:nvSpPr>
          <p:cNvPr name="TextBox 10" id="10"/>
          <p:cNvSpPr txBox="true"/>
          <p:nvPr/>
        </p:nvSpPr>
        <p:spPr>
          <a:xfrm rot="0">
            <a:off x="1385888" y="2695575"/>
            <a:ext cx="1769566" cy="333375"/>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Fitur Utama </a:t>
            </a:r>
          </a:p>
        </p:txBody>
      </p:sp>
      <p:sp>
        <p:nvSpPr>
          <p:cNvPr name="TextBox 11" id="11"/>
          <p:cNvSpPr txBox="true"/>
          <p:nvPr/>
        </p:nvSpPr>
        <p:spPr>
          <a:xfrm rot="0">
            <a:off x="1385888" y="3171825"/>
            <a:ext cx="6959615" cy="2202180"/>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User diminta untuk login dengan mengisi email dan password dari akun yang sudah ada. Jika user ingin membuat akun baru, dapat menekan tombol “Daftar Sekarang”</a:t>
            </a:r>
          </a:p>
        </p:txBody>
      </p:sp>
      <p:sp>
        <p:nvSpPr>
          <p:cNvPr name="TextBox 12" id="12"/>
          <p:cNvSpPr txBox="true"/>
          <p:nvPr/>
        </p:nvSpPr>
        <p:spPr>
          <a:xfrm rot="0">
            <a:off x="1385888" y="5916930"/>
            <a:ext cx="7472362" cy="417195"/>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my-jobs.tsx, projectController.js, projectService.js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Register</a:t>
              </a:r>
            </a:p>
          </p:txBody>
        </p:sp>
      </p:grpSp>
      <p:sp>
        <p:nvSpPr>
          <p:cNvPr name="Freeform 9" id="9"/>
          <p:cNvSpPr/>
          <p:nvPr/>
        </p:nvSpPr>
        <p:spPr>
          <a:xfrm flipH="false" flipV="false" rot="0">
            <a:off x="1028700" y="2629390"/>
            <a:ext cx="5276275" cy="6356958"/>
          </a:xfrm>
          <a:custGeom>
            <a:avLst/>
            <a:gdLst/>
            <a:ahLst/>
            <a:cxnLst/>
            <a:rect r="r" b="b" t="t" l="l"/>
            <a:pathLst>
              <a:path h="6356958" w="5276275">
                <a:moveTo>
                  <a:pt x="0" y="0"/>
                </a:moveTo>
                <a:lnTo>
                  <a:pt x="5276275" y="0"/>
                </a:lnTo>
                <a:lnTo>
                  <a:pt x="5276275" y="6356958"/>
                </a:lnTo>
                <a:lnTo>
                  <a:pt x="0" y="6356958"/>
                </a:lnTo>
                <a:lnTo>
                  <a:pt x="0" y="0"/>
                </a:lnTo>
                <a:close/>
              </a:path>
            </a:pathLst>
          </a:custGeom>
          <a:blipFill>
            <a:blip r:embed="rId6"/>
            <a:stretch>
              <a:fillRect l="0" t="0" r="0" b="0"/>
            </a:stretch>
          </a:blipFill>
        </p:spPr>
      </p:sp>
      <p:sp>
        <p:nvSpPr>
          <p:cNvPr name="Freeform 10" id="10"/>
          <p:cNvSpPr/>
          <p:nvPr/>
        </p:nvSpPr>
        <p:spPr>
          <a:xfrm flipH="false" flipV="false" rot="0">
            <a:off x="6521755" y="2629390"/>
            <a:ext cx="5244490" cy="6356958"/>
          </a:xfrm>
          <a:custGeom>
            <a:avLst/>
            <a:gdLst/>
            <a:ahLst/>
            <a:cxnLst/>
            <a:rect r="r" b="b" t="t" l="l"/>
            <a:pathLst>
              <a:path h="6356958" w="5244490">
                <a:moveTo>
                  <a:pt x="0" y="0"/>
                </a:moveTo>
                <a:lnTo>
                  <a:pt x="5244490" y="0"/>
                </a:lnTo>
                <a:lnTo>
                  <a:pt x="5244490" y="6356958"/>
                </a:lnTo>
                <a:lnTo>
                  <a:pt x="0" y="6356958"/>
                </a:lnTo>
                <a:lnTo>
                  <a:pt x="0" y="0"/>
                </a:lnTo>
                <a:close/>
              </a:path>
            </a:pathLst>
          </a:custGeom>
          <a:blipFill>
            <a:blip r:embed="rId7"/>
            <a:stretch>
              <a:fillRect l="0" t="0" r="0" b="0"/>
            </a:stretch>
          </a:blipFill>
        </p:spPr>
      </p:sp>
      <p:sp>
        <p:nvSpPr>
          <p:cNvPr name="Freeform 11" id="11"/>
          <p:cNvSpPr/>
          <p:nvPr/>
        </p:nvSpPr>
        <p:spPr>
          <a:xfrm flipH="false" flipV="false" rot="0">
            <a:off x="11985320" y="2629390"/>
            <a:ext cx="5273980" cy="4165204"/>
          </a:xfrm>
          <a:custGeom>
            <a:avLst/>
            <a:gdLst/>
            <a:ahLst/>
            <a:cxnLst/>
            <a:rect r="r" b="b" t="t" l="l"/>
            <a:pathLst>
              <a:path h="4165204" w="5273980">
                <a:moveTo>
                  <a:pt x="0" y="0"/>
                </a:moveTo>
                <a:lnTo>
                  <a:pt x="5273980" y="0"/>
                </a:lnTo>
                <a:lnTo>
                  <a:pt x="5273980" y="4165204"/>
                </a:lnTo>
                <a:lnTo>
                  <a:pt x="0" y="4165204"/>
                </a:lnTo>
                <a:lnTo>
                  <a:pt x="0" y="0"/>
                </a:lnTo>
                <a:close/>
              </a:path>
            </a:pathLst>
          </a:custGeom>
          <a:blipFill>
            <a:blip r:embed="rId8"/>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Register</a:t>
              </a:r>
            </a:p>
          </p:txBody>
        </p:sp>
      </p:grpSp>
      <p:sp>
        <p:nvSpPr>
          <p:cNvPr name="TextBox 9" id="9"/>
          <p:cNvSpPr txBox="true"/>
          <p:nvPr/>
        </p:nvSpPr>
        <p:spPr>
          <a:xfrm rot="0">
            <a:off x="1385888" y="2695575"/>
            <a:ext cx="1769566" cy="333375"/>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Fitur Utama </a:t>
            </a:r>
          </a:p>
        </p:txBody>
      </p:sp>
      <p:sp>
        <p:nvSpPr>
          <p:cNvPr name="TextBox 10" id="10"/>
          <p:cNvSpPr txBox="true"/>
          <p:nvPr/>
        </p:nvSpPr>
        <p:spPr>
          <a:xfrm rot="0">
            <a:off x="1385888" y="3171825"/>
            <a:ext cx="15163577" cy="276415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Terdapat 3 Langkah untuk register:</a:t>
            </a:r>
          </a:p>
          <a:p>
            <a:pPr algn="l" marL="534352" indent="-267176" lvl="1">
              <a:lnSpc>
                <a:spcPts val="4455"/>
              </a:lnSpc>
              <a:buFont typeface="Arial"/>
              <a:buChar char="•"/>
            </a:pPr>
            <a:r>
              <a:rPr lang="en-US" sz="2475">
                <a:solidFill>
                  <a:srgbClr val="64748B"/>
                </a:solidFill>
                <a:latin typeface="Quicksand"/>
                <a:ea typeface="Quicksand"/>
                <a:cs typeface="Quicksand"/>
                <a:sym typeface="Quicksand"/>
              </a:rPr>
              <a:t>Langkah 1: Mengisi biodata seperti nama, email, no. telpon, password, dan tulis ulang password.</a:t>
            </a:r>
          </a:p>
          <a:p>
            <a:pPr algn="l" marL="534352" indent="-267176" lvl="1">
              <a:lnSpc>
                <a:spcPts val="4455"/>
              </a:lnSpc>
              <a:buFont typeface="Arial"/>
              <a:buChar char="•"/>
            </a:pPr>
            <a:r>
              <a:rPr lang="en-US" sz="2475">
                <a:solidFill>
                  <a:srgbClr val="64748B"/>
                </a:solidFill>
                <a:latin typeface="Quicksand"/>
                <a:ea typeface="Quicksand"/>
                <a:cs typeface="Quicksand"/>
                <a:sym typeface="Quicksand"/>
              </a:rPr>
              <a:t>Langkah 2: Memilih skill yang dikuasai, mendeskripsikan kemampuan, dan jmendeskripsikan achievement yang pernah diraih.</a:t>
            </a:r>
          </a:p>
          <a:p>
            <a:pPr algn="l" marL="534352" indent="-267176" lvl="1">
              <a:lnSpc>
                <a:spcPts val="4455"/>
              </a:lnSpc>
              <a:buFont typeface="Arial"/>
              <a:buChar char="•"/>
            </a:pPr>
            <a:r>
              <a:rPr lang="en-US" sz="2475">
                <a:solidFill>
                  <a:srgbClr val="64748B"/>
                </a:solidFill>
                <a:latin typeface="Quicksand"/>
                <a:ea typeface="Quicksand"/>
                <a:cs typeface="Quicksand"/>
                <a:sym typeface="Quicksand"/>
              </a:rPr>
              <a:t>Langkah 3: Disini user diminta untuk mengupload file CV.</a:t>
            </a:r>
          </a:p>
        </p:txBody>
      </p:sp>
      <p:sp>
        <p:nvSpPr>
          <p:cNvPr name="TextBox 11" id="11"/>
          <p:cNvSpPr txBox="true"/>
          <p:nvPr/>
        </p:nvSpPr>
        <p:spPr>
          <a:xfrm rot="0">
            <a:off x="1385888" y="6478905"/>
            <a:ext cx="7472362" cy="417195"/>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register.tsx, userController.js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Profile</a:t>
              </a:r>
            </a:p>
          </p:txBody>
        </p:sp>
      </p:grpSp>
      <p:sp>
        <p:nvSpPr>
          <p:cNvPr name="Freeform 9" id="9"/>
          <p:cNvSpPr/>
          <p:nvPr/>
        </p:nvSpPr>
        <p:spPr>
          <a:xfrm flipH="false" flipV="false" rot="0">
            <a:off x="9558337" y="2520615"/>
            <a:ext cx="7499170" cy="6421164"/>
          </a:xfrm>
          <a:custGeom>
            <a:avLst/>
            <a:gdLst/>
            <a:ahLst/>
            <a:cxnLst/>
            <a:rect r="r" b="b" t="t" l="l"/>
            <a:pathLst>
              <a:path h="6421164" w="7499170">
                <a:moveTo>
                  <a:pt x="0" y="0"/>
                </a:moveTo>
                <a:lnTo>
                  <a:pt x="7499170" y="0"/>
                </a:lnTo>
                <a:lnTo>
                  <a:pt x="7499170" y="6421164"/>
                </a:lnTo>
                <a:lnTo>
                  <a:pt x="0" y="6421164"/>
                </a:lnTo>
                <a:lnTo>
                  <a:pt x="0" y="0"/>
                </a:lnTo>
                <a:close/>
              </a:path>
            </a:pathLst>
          </a:custGeom>
          <a:blipFill>
            <a:blip r:embed="rId6"/>
            <a:stretch>
              <a:fillRect l="0" t="0" r="0" b="0"/>
            </a:stretch>
          </a:blipFill>
        </p:spPr>
      </p:sp>
      <p:sp>
        <p:nvSpPr>
          <p:cNvPr name="TextBox 10" id="10"/>
          <p:cNvSpPr txBox="true"/>
          <p:nvPr/>
        </p:nvSpPr>
        <p:spPr>
          <a:xfrm rot="0">
            <a:off x="1385888" y="2695575"/>
            <a:ext cx="1769566" cy="333375"/>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Fitur Utama </a:t>
            </a:r>
          </a:p>
        </p:txBody>
      </p:sp>
      <p:sp>
        <p:nvSpPr>
          <p:cNvPr name="TextBox 11" id="11"/>
          <p:cNvSpPr txBox="true"/>
          <p:nvPr/>
        </p:nvSpPr>
        <p:spPr>
          <a:xfrm rot="0">
            <a:off x="1385888" y="3171825"/>
            <a:ext cx="6959615" cy="501205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User dapat melihat profile miliknya yang berisi about me, experiences, skills, dan juga achievement.</a:t>
            </a:r>
          </a:p>
          <a:p>
            <a:pPr algn="l">
              <a:lnSpc>
                <a:spcPts val="4455"/>
              </a:lnSpc>
            </a:pPr>
            <a:r>
              <a:rPr lang="en-US" sz="2475">
                <a:solidFill>
                  <a:srgbClr val="64748B"/>
                </a:solidFill>
                <a:latin typeface="Quicksand"/>
                <a:ea typeface="Quicksand"/>
                <a:cs typeface="Quicksand"/>
                <a:sym typeface="Quicksand"/>
              </a:rPr>
              <a:t>Kita juga dapat melihat total pembayarang yang telah diterima dan juga file CV yang telah kita upload.</a:t>
            </a:r>
          </a:p>
          <a:p>
            <a:pPr algn="l">
              <a:lnSpc>
                <a:spcPts val="4455"/>
              </a:lnSpc>
            </a:pPr>
            <a:r>
              <a:rPr lang="en-US" sz="2475">
                <a:solidFill>
                  <a:srgbClr val="64748B"/>
                </a:solidFill>
                <a:latin typeface="Quicksand"/>
                <a:ea typeface="Quicksand"/>
                <a:cs typeface="Quicksand"/>
                <a:sym typeface="Quicksand"/>
              </a:rPr>
              <a:t>Untuk rating masih menggunakan dummy.</a:t>
            </a:r>
          </a:p>
          <a:p>
            <a:pPr algn="l">
              <a:lnSpc>
                <a:spcPts val="4455"/>
              </a:lnSpc>
            </a:pPr>
            <a:r>
              <a:rPr lang="en-US" sz="2475">
                <a:solidFill>
                  <a:srgbClr val="64748B"/>
                </a:solidFill>
                <a:latin typeface="Quicksand"/>
                <a:ea typeface="Quicksand"/>
                <a:cs typeface="Quicksand"/>
                <a:sym typeface="Quicksand"/>
              </a:rPr>
              <a:t>Jika user ingin mengedit profile, dapat menekan tombol “Edit Profile”.</a:t>
            </a:r>
          </a:p>
        </p:txBody>
      </p:sp>
      <p:sp>
        <p:nvSpPr>
          <p:cNvPr name="TextBox 12" id="12"/>
          <p:cNvSpPr txBox="true"/>
          <p:nvPr/>
        </p:nvSpPr>
        <p:spPr>
          <a:xfrm rot="0">
            <a:off x="1385888" y="8524584"/>
            <a:ext cx="8593998" cy="417195"/>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profile.tsx, freelancerProfileController.js, freelancerSkillController.js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Edit Profile</a:t>
              </a:r>
            </a:p>
          </p:txBody>
        </p:sp>
      </p:grpSp>
      <p:sp>
        <p:nvSpPr>
          <p:cNvPr name="Freeform 9" id="9"/>
          <p:cNvSpPr/>
          <p:nvPr/>
        </p:nvSpPr>
        <p:spPr>
          <a:xfrm flipH="false" flipV="false" rot="0">
            <a:off x="8067225" y="4876626"/>
            <a:ext cx="5859215" cy="4381674"/>
          </a:xfrm>
          <a:custGeom>
            <a:avLst/>
            <a:gdLst/>
            <a:ahLst/>
            <a:cxnLst/>
            <a:rect r="r" b="b" t="t" l="l"/>
            <a:pathLst>
              <a:path h="4381674" w="5859215">
                <a:moveTo>
                  <a:pt x="0" y="0"/>
                </a:moveTo>
                <a:lnTo>
                  <a:pt x="5859215" y="0"/>
                </a:lnTo>
                <a:lnTo>
                  <a:pt x="5859215" y="4381674"/>
                </a:lnTo>
                <a:lnTo>
                  <a:pt x="0" y="4381674"/>
                </a:lnTo>
                <a:lnTo>
                  <a:pt x="0" y="0"/>
                </a:lnTo>
                <a:close/>
              </a:path>
            </a:pathLst>
          </a:custGeom>
          <a:blipFill>
            <a:blip r:embed="rId6"/>
            <a:stretch>
              <a:fillRect l="0" t="0" r="0" b="0"/>
            </a:stretch>
          </a:blipFill>
        </p:spPr>
      </p:sp>
      <p:sp>
        <p:nvSpPr>
          <p:cNvPr name="Freeform 10" id="10"/>
          <p:cNvSpPr/>
          <p:nvPr/>
        </p:nvSpPr>
        <p:spPr>
          <a:xfrm flipH="false" flipV="false" rot="0">
            <a:off x="12030369" y="2477741"/>
            <a:ext cx="5228931" cy="4815936"/>
          </a:xfrm>
          <a:custGeom>
            <a:avLst/>
            <a:gdLst/>
            <a:ahLst/>
            <a:cxnLst/>
            <a:rect r="r" b="b" t="t" l="l"/>
            <a:pathLst>
              <a:path h="4815936" w="5228931">
                <a:moveTo>
                  <a:pt x="0" y="0"/>
                </a:moveTo>
                <a:lnTo>
                  <a:pt x="5228931" y="0"/>
                </a:lnTo>
                <a:lnTo>
                  <a:pt x="5228931" y="4815937"/>
                </a:lnTo>
                <a:lnTo>
                  <a:pt x="0" y="4815937"/>
                </a:lnTo>
                <a:lnTo>
                  <a:pt x="0" y="0"/>
                </a:lnTo>
                <a:close/>
              </a:path>
            </a:pathLst>
          </a:custGeom>
          <a:blipFill>
            <a:blip r:embed="rId7"/>
            <a:stretch>
              <a:fillRect l="0" t="0" r="0" b="0"/>
            </a:stretch>
          </a:blipFill>
        </p:spPr>
      </p:sp>
      <p:sp>
        <p:nvSpPr>
          <p:cNvPr name="TextBox 11" id="11"/>
          <p:cNvSpPr txBox="true"/>
          <p:nvPr/>
        </p:nvSpPr>
        <p:spPr>
          <a:xfrm rot="0">
            <a:off x="1385888" y="2695575"/>
            <a:ext cx="1769566" cy="333375"/>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Fitur Utama </a:t>
            </a:r>
          </a:p>
        </p:txBody>
      </p:sp>
      <p:sp>
        <p:nvSpPr>
          <p:cNvPr name="TextBox 12" id="12"/>
          <p:cNvSpPr txBox="true"/>
          <p:nvPr/>
        </p:nvSpPr>
        <p:spPr>
          <a:xfrm rot="0">
            <a:off x="1385888" y="3171825"/>
            <a:ext cx="6318680" cy="164020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User dapat mengedit Profile yang telah dibuat sebelumnya mulai dari foto profil, nama, lokasi, skill, file CV, dll.</a:t>
            </a:r>
          </a:p>
        </p:txBody>
      </p:sp>
      <p:sp>
        <p:nvSpPr>
          <p:cNvPr name="TextBox 13" id="13"/>
          <p:cNvSpPr txBox="true"/>
          <p:nvPr/>
        </p:nvSpPr>
        <p:spPr>
          <a:xfrm rot="0">
            <a:off x="1385888" y="5354955"/>
            <a:ext cx="6318680" cy="874395"/>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profile.tsx, freelancerProfileController.js, freelancerSkillController.js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Freelancer : Find Work</a:t>
              </a:r>
            </a:p>
          </p:txBody>
        </p:sp>
      </p:grpSp>
      <p:sp>
        <p:nvSpPr>
          <p:cNvPr name="Freeform 9" id="9"/>
          <p:cNvSpPr/>
          <p:nvPr/>
        </p:nvSpPr>
        <p:spPr>
          <a:xfrm flipH="false" flipV="false" rot="0">
            <a:off x="9144000" y="2515957"/>
            <a:ext cx="7923260" cy="3684316"/>
          </a:xfrm>
          <a:custGeom>
            <a:avLst/>
            <a:gdLst/>
            <a:ahLst/>
            <a:cxnLst/>
            <a:rect r="r" b="b" t="t" l="l"/>
            <a:pathLst>
              <a:path h="3684316" w="7923260">
                <a:moveTo>
                  <a:pt x="0" y="0"/>
                </a:moveTo>
                <a:lnTo>
                  <a:pt x="7923260" y="0"/>
                </a:lnTo>
                <a:lnTo>
                  <a:pt x="7923260" y="3684316"/>
                </a:lnTo>
                <a:lnTo>
                  <a:pt x="0" y="3684316"/>
                </a:lnTo>
                <a:lnTo>
                  <a:pt x="0" y="0"/>
                </a:lnTo>
                <a:close/>
              </a:path>
            </a:pathLst>
          </a:custGeom>
          <a:blipFill>
            <a:blip r:embed="rId6"/>
            <a:stretch>
              <a:fillRect l="0" t="0" r="0" b="0"/>
            </a:stretch>
          </a:blipFill>
        </p:spPr>
      </p:sp>
      <p:sp>
        <p:nvSpPr>
          <p:cNvPr name="TextBox 10" id="10"/>
          <p:cNvSpPr txBox="true"/>
          <p:nvPr/>
        </p:nvSpPr>
        <p:spPr>
          <a:xfrm rot="0">
            <a:off x="1385888" y="2695575"/>
            <a:ext cx="3298924" cy="333375"/>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Fitur Utama Freelancer</a:t>
            </a:r>
          </a:p>
        </p:txBody>
      </p:sp>
      <p:sp>
        <p:nvSpPr>
          <p:cNvPr name="TextBox 11" id="11"/>
          <p:cNvSpPr txBox="true"/>
          <p:nvPr/>
        </p:nvSpPr>
        <p:spPr>
          <a:xfrm rot="0">
            <a:off x="1385888" y="3171825"/>
            <a:ext cx="7472362" cy="5574030"/>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Terdapat 4 tab:</a:t>
            </a:r>
          </a:p>
          <a:p>
            <a:pPr algn="l" marL="534352" indent="-267176" lvl="1">
              <a:lnSpc>
                <a:spcPts val="4455"/>
              </a:lnSpc>
              <a:buFont typeface="Arial"/>
              <a:buChar char="•"/>
            </a:pPr>
            <a:r>
              <a:rPr lang="en-US" sz="2475">
                <a:solidFill>
                  <a:srgbClr val="64748B"/>
                </a:solidFill>
                <a:latin typeface="Quicksand"/>
                <a:ea typeface="Quicksand"/>
                <a:cs typeface="Quicksand"/>
                <a:sym typeface="Quicksand"/>
              </a:rPr>
              <a:t>Recommended jobs: Menampilkan job yang memiliki kriteria skill sesuai dengan skill yang kita miliki.</a:t>
            </a:r>
          </a:p>
          <a:p>
            <a:pPr algn="l" marL="534352" indent="-267176" lvl="1">
              <a:lnSpc>
                <a:spcPts val="4455"/>
              </a:lnSpc>
              <a:buFont typeface="Arial"/>
              <a:buChar char="•"/>
            </a:pPr>
            <a:r>
              <a:rPr lang="en-US" sz="2475">
                <a:solidFill>
                  <a:srgbClr val="64748B"/>
                </a:solidFill>
                <a:latin typeface="Quicksand"/>
                <a:ea typeface="Quicksand"/>
                <a:cs typeface="Quicksand"/>
                <a:sym typeface="Quicksand"/>
              </a:rPr>
              <a:t>All Jobs: Menampilkan semua job.</a:t>
            </a:r>
          </a:p>
          <a:p>
            <a:pPr algn="l" marL="534352" indent="-267176" lvl="1">
              <a:lnSpc>
                <a:spcPts val="4455"/>
              </a:lnSpc>
              <a:buFont typeface="Arial"/>
              <a:buChar char="•"/>
            </a:pPr>
            <a:r>
              <a:rPr lang="en-US" sz="2475">
                <a:solidFill>
                  <a:srgbClr val="64748B"/>
                </a:solidFill>
                <a:latin typeface="Quicksand"/>
                <a:ea typeface="Quicksand"/>
                <a:cs typeface="Quicksand"/>
                <a:sym typeface="Quicksand"/>
              </a:rPr>
              <a:t>Applied Jobs: Menampilkan job yang sudah kita apply.</a:t>
            </a:r>
          </a:p>
          <a:p>
            <a:pPr algn="l" marL="534352" indent="-267176" lvl="1">
              <a:lnSpc>
                <a:spcPts val="4455"/>
              </a:lnSpc>
              <a:buFont typeface="Arial"/>
              <a:buChar char="•"/>
            </a:pPr>
            <a:r>
              <a:rPr lang="en-US" sz="2475">
                <a:solidFill>
                  <a:srgbClr val="64748B"/>
                </a:solidFill>
                <a:latin typeface="Quicksand"/>
                <a:ea typeface="Quicksand"/>
                <a:cs typeface="Quicksand"/>
                <a:sym typeface="Quicksand"/>
              </a:rPr>
              <a:t>Saved Jobs: Menampilkan job yang kita “Saved” dengan cara membuka detail job tersebugt lalu tekan “Save Job”.</a:t>
            </a:r>
          </a:p>
        </p:txBody>
      </p:sp>
      <p:sp>
        <p:nvSpPr>
          <p:cNvPr name="TextBox 12" id="12"/>
          <p:cNvSpPr txBox="true"/>
          <p:nvPr/>
        </p:nvSpPr>
        <p:spPr>
          <a:xfrm rot="0">
            <a:off x="9369449" y="7363662"/>
            <a:ext cx="7472362" cy="874395"/>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shared.tsx, projectController.js, savedJobController.js, bidController.js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Freelancer : My Jobs</a:t>
              </a:r>
            </a:p>
          </p:txBody>
        </p:sp>
      </p:grpSp>
      <p:sp>
        <p:nvSpPr>
          <p:cNvPr name="Freeform 9" id="9"/>
          <p:cNvSpPr/>
          <p:nvPr/>
        </p:nvSpPr>
        <p:spPr>
          <a:xfrm flipH="false" flipV="false" rot="0">
            <a:off x="8570594" y="2574256"/>
            <a:ext cx="8439611" cy="5095415"/>
          </a:xfrm>
          <a:custGeom>
            <a:avLst/>
            <a:gdLst/>
            <a:ahLst/>
            <a:cxnLst/>
            <a:rect r="r" b="b" t="t" l="l"/>
            <a:pathLst>
              <a:path h="5095415" w="8439611">
                <a:moveTo>
                  <a:pt x="0" y="0"/>
                </a:moveTo>
                <a:lnTo>
                  <a:pt x="8439611" y="0"/>
                </a:lnTo>
                <a:lnTo>
                  <a:pt x="8439611" y="5095415"/>
                </a:lnTo>
                <a:lnTo>
                  <a:pt x="0" y="5095415"/>
                </a:lnTo>
                <a:lnTo>
                  <a:pt x="0" y="0"/>
                </a:lnTo>
                <a:close/>
              </a:path>
            </a:pathLst>
          </a:custGeom>
          <a:blipFill>
            <a:blip r:embed="rId6"/>
            <a:stretch>
              <a:fillRect l="0" t="0" r="0" b="0"/>
            </a:stretch>
          </a:blipFill>
        </p:spPr>
      </p:sp>
      <p:sp>
        <p:nvSpPr>
          <p:cNvPr name="TextBox 10" id="10"/>
          <p:cNvSpPr txBox="true"/>
          <p:nvPr/>
        </p:nvSpPr>
        <p:spPr>
          <a:xfrm rot="0">
            <a:off x="1385888" y="2695575"/>
            <a:ext cx="3298924" cy="333375"/>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Fitur Utama Freelancer</a:t>
            </a:r>
          </a:p>
        </p:txBody>
      </p:sp>
      <p:sp>
        <p:nvSpPr>
          <p:cNvPr name="TextBox 11" id="11"/>
          <p:cNvSpPr txBox="true"/>
          <p:nvPr/>
        </p:nvSpPr>
        <p:spPr>
          <a:xfrm rot="0">
            <a:off x="1385888" y="3171825"/>
            <a:ext cx="7472362" cy="1078230"/>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Freelancer dapat melihat list job yang sudah mereka apply dan juga yang sudah tuntas.</a:t>
            </a:r>
          </a:p>
        </p:txBody>
      </p:sp>
      <p:sp>
        <p:nvSpPr>
          <p:cNvPr name="TextBox 12" id="12"/>
          <p:cNvSpPr txBox="true"/>
          <p:nvPr/>
        </p:nvSpPr>
        <p:spPr>
          <a:xfrm rot="0">
            <a:off x="1385888" y="4792980"/>
            <a:ext cx="7472362" cy="417195"/>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my-jobs.tsx, projectController.js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Freelancer : Page Pembayaran</a:t>
              </a:r>
            </a:p>
          </p:txBody>
        </p:sp>
      </p:grpSp>
      <p:sp>
        <p:nvSpPr>
          <p:cNvPr name="Freeform 9" id="9"/>
          <p:cNvSpPr/>
          <p:nvPr/>
        </p:nvSpPr>
        <p:spPr>
          <a:xfrm flipH="false" flipV="false" rot="0">
            <a:off x="1028700" y="2840558"/>
            <a:ext cx="7631308" cy="5561315"/>
          </a:xfrm>
          <a:custGeom>
            <a:avLst/>
            <a:gdLst/>
            <a:ahLst/>
            <a:cxnLst/>
            <a:rect r="r" b="b" t="t" l="l"/>
            <a:pathLst>
              <a:path h="5561315" w="7631308">
                <a:moveTo>
                  <a:pt x="0" y="0"/>
                </a:moveTo>
                <a:lnTo>
                  <a:pt x="7631308" y="0"/>
                </a:lnTo>
                <a:lnTo>
                  <a:pt x="7631308" y="5561315"/>
                </a:lnTo>
                <a:lnTo>
                  <a:pt x="0" y="5561315"/>
                </a:lnTo>
                <a:lnTo>
                  <a:pt x="0" y="0"/>
                </a:lnTo>
                <a:close/>
              </a:path>
            </a:pathLst>
          </a:custGeom>
          <a:blipFill>
            <a:blip r:embed="rId6"/>
            <a:stretch>
              <a:fillRect l="0" t="0" r="0" b="0"/>
            </a:stretch>
          </a:blipFill>
        </p:spPr>
      </p:sp>
      <p:sp>
        <p:nvSpPr>
          <p:cNvPr name="Freeform 10" id="10"/>
          <p:cNvSpPr/>
          <p:nvPr/>
        </p:nvSpPr>
        <p:spPr>
          <a:xfrm flipH="false" flipV="false" rot="0">
            <a:off x="9481236" y="2840558"/>
            <a:ext cx="7778064" cy="5561315"/>
          </a:xfrm>
          <a:custGeom>
            <a:avLst/>
            <a:gdLst/>
            <a:ahLst/>
            <a:cxnLst/>
            <a:rect r="r" b="b" t="t" l="l"/>
            <a:pathLst>
              <a:path h="5561315" w="7778064">
                <a:moveTo>
                  <a:pt x="0" y="0"/>
                </a:moveTo>
                <a:lnTo>
                  <a:pt x="7778064" y="0"/>
                </a:lnTo>
                <a:lnTo>
                  <a:pt x="7778064" y="5561315"/>
                </a:lnTo>
                <a:lnTo>
                  <a:pt x="0" y="5561315"/>
                </a:lnTo>
                <a:lnTo>
                  <a:pt x="0" y="0"/>
                </a:lnTo>
                <a:close/>
              </a:path>
            </a:pathLst>
          </a:custGeom>
          <a:blipFill>
            <a:blip r:embed="rId7"/>
            <a:stretch>
              <a:fillRect l="0" t="0" r="0" b="0"/>
            </a:stretch>
          </a:blipFill>
        </p:spPr>
      </p:sp>
      <p:sp>
        <p:nvSpPr>
          <p:cNvPr name="TextBox 11" id="11"/>
          <p:cNvSpPr txBox="true"/>
          <p:nvPr/>
        </p:nvSpPr>
        <p:spPr>
          <a:xfrm rot="0">
            <a:off x="5407819" y="8287573"/>
            <a:ext cx="7472362" cy="417195"/>
          </a:xfrm>
          <a:prstGeom prst="rect">
            <a:avLst/>
          </a:prstGeom>
        </p:spPr>
        <p:txBody>
          <a:bodyPr anchor="t" rtlCol="false" tIns="0" lIns="0" bIns="0" rIns="0">
            <a:spAutoFit/>
          </a:bodyPr>
          <a:lstStyle/>
          <a:p>
            <a:pPr algn="ctr">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manage-job.tsx, contractController.js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Client : Post a Job</a:t>
              </a:r>
            </a:p>
          </p:txBody>
        </p:sp>
      </p:grpSp>
      <p:sp>
        <p:nvSpPr>
          <p:cNvPr name="Freeform 9" id="9"/>
          <p:cNvSpPr/>
          <p:nvPr/>
        </p:nvSpPr>
        <p:spPr>
          <a:xfrm flipH="false" flipV="false" rot="0">
            <a:off x="10851960" y="2185988"/>
            <a:ext cx="5577697" cy="7243762"/>
          </a:xfrm>
          <a:custGeom>
            <a:avLst/>
            <a:gdLst/>
            <a:ahLst/>
            <a:cxnLst/>
            <a:rect r="r" b="b" t="t" l="l"/>
            <a:pathLst>
              <a:path h="7243762" w="5577697">
                <a:moveTo>
                  <a:pt x="0" y="0"/>
                </a:moveTo>
                <a:lnTo>
                  <a:pt x="5577697" y="0"/>
                </a:lnTo>
                <a:lnTo>
                  <a:pt x="5577697" y="7243762"/>
                </a:lnTo>
                <a:lnTo>
                  <a:pt x="0" y="7243762"/>
                </a:lnTo>
                <a:lnTo>
                  <a:pt x="0" y="0"/>
                </a:lnTo>
                <a:close/>
              </a:path>
            </a:pathLst>
          </a:custGeom>
          <a:blipFill>
            <a:blip r:embed="rId6"/>
            <a:stretch>
              <a:fillRect l="0" t="0" r="0" b="0"/>
            </a:stretch>
          </a:blipFill>
        </p:spPr>
      </p:sp>
      <p:sp>
        <p:nvSpPr>
          <p:cNvPr name="TextBox 10" id="10"/>
          <p:cNvSpPr txBox="true"/>
          <p:nvPr/>
        </p:nvSpPr>
        <p:spPr>
          <a:xfrm rot="0">
            <a:off x="1385888" y="2695575"/>
            <a:ext cx="7845981" cy="304800"/>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Fitur Utama Klien</a:t>
            </a:r>
          </a:p>
        </p:txBody>
      </p:sp>
      <p:sp>
        <p:nvSpPr>
          <p:cNvPr name="TextBox 11" id="11"/>
          <p:cNvSpPr txBox="true"/>
          <p:nvPr/>
        </p:nvSpPr>
        <p:spPr>
          <a:xfrm rot="0">
            <a:off x="1385888" y="3171825"/>
            <a:ext cx="7472362" cy="1078230"/>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Membuat pekerjaan baru yang nantinya dapat di-apply oleh pelamar</a:t>
            </a:r>
          </a:p>
        </p:txBody>
      </p:sp>
      <p:sp>
        <p:nvSpPr>
          <p:cNvPr name="TextBox 12" id="12"/>
          <p:cNvSpPr txBox="true"/>
          <p:nvPr/>
        </p:nvSpPr>
        <p:spPr>
          <a:xfrm rot="0">
            <a:off x="1385888" y="4726305"/>
            <a:ext cx="7472362" cy="417195"/>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post-job.tsx</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Client : My Job (Client)</a:t>
              </a:r>
            </a:p>
          </p:txBody>
        </p:sp>
      </p:grpSp>
      <p:sp>
        <p:nvSpPr>
          <p:cNvPr name="Freeform 9" id="9"/>
          <p:cNvSpPr/>
          <p:nvPr/>
        </p:nvSpPr>
        <p:spPr>
          <a:xfrm flipH="false" flipV="false" rot="0">
            <a:off x="8391237" y="2714625"/>
            <a:ext cx="8771223" cy="6096000"/>
          </a:xfrm>
          <a:custGeom>
            <a:avLst/>
            <a:gdLst/>
            <a:ahLst/>
            <a:cxnLst/>
            <a:rect r="r" b="b" t="t" l="l"/>
            <a:pathLst>
              <a:path h="6096000" w="8771223">
                <a:moveTo>
                  <a:pt x="0" y="0"/>
                </a:moveTo>
                <a:lnTo>
                  <a:pt x="8771223" y="0"/>
                </a:lnTo>
                <a:lnTo>
                  <a:pt x="8771223" y="6096000"/>
                </a:lnTo>
                <a:lnTo>
                  <a:pt x="0" y="6096000"/>
                </a:lnTo>
                <a:lnTo>
                  <a:pt x="0" y="0"/>
                </a:lnTo>
                <a:close/>
              </a:path>
            </a:pathLst>
          </a:custGeom>
          <a:blipFill>
            <a:blip r:embed="rId6"/>
            <a:stretch>
              <a:fillRect l="0" t="0" r="0" b="0"/>
            </a:stretch>
          </a:blipFill>
        </p:spPr>
      </p:sp>
      <p:sp>
        <p:nvSpPr>
          <p:cNvPr name="TextBox 10" id="10"/>
          <p:cNvSpPr txBox="true"/>
          <p:nvPr/>
        </p:nvSpPr>
        <p:spPr>
          <a:xfrm rot="0">
            <a:off x="1385888" y="2695575"/>
            <a:ext cx="7845981" cy="304800"/>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Fitur Utama Klien</a:t>
            </a:r>
          </a:p>
        </p:txBody>
      </p:sp>
      <p:sp>
        <p:nvSpPr>
          <p:cNvPr name="TextBox 11" id="11"/>
          <p:cNvSpPr txBox="true"/>
          <p:nvPr/>
        </p:nvSpPr>
        <p:spPr>
          <a:xfrm rot="0">
            <a:off x="1385888" y="3171825"/>
            <a:ext cx="6959615" cy="501205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Melihat daftar pekerjaan yang telah dibuat. Pekerjaan memiliki 3 status, yaitu:</a:t>
            </a:r>
          </a:p>
          <a:p>
            <a:pPr algn="l" marL="534352" indent="-267176" lvl="1">
              <a:lnSpc>
                <a:spcPts val="4455"/>
              </a:lnSpc>
              <a:buFont typeface="Arial"/>
              <a:buChar char="•"/>
            </a:pPr>
            <a:r>
              <a:rPr lang="en-US" sz="2475">
                <a:solidFill>
                  <a:srgbClr val="64748B"/>
                </a:solidFill>
                <a:latin typeface="Quicksand"/>
                <a:ea typeface="Quicksand"/>
                <a:cs typeface="Quicksand"/>
                <a:sym typeface="Quicksand"/>
              </a:rPr>
              <a:t>ACTIVE: Belum meng-accept satupun pelamar.</a:t>
            </a:r>
          </a:p>
          <a:p>
            <a:pPr algn="l" marL="534352" indent="-267176" lvl="1">
              <a:lnSpc>
                <a:spcPts val="4455"/>
              </a:lnSpc>
              <a:buFont typeface="Arial"/>
              <a:buChar char="•"/>
            </a:pPr>
            <a:r>
              <a:rPr lang="en-US" sz="2475">
                <a:solidFill>
                  <a:srgbClr val="64748B"/>
                </a:solidFill>
                <a:latin typeface="Quicksand"/>
                <a:ea typeface="Quicksand"/>
                <a:cs typeface="Quicksand"/>
                <a:sym typeface="Quicksand"/>
              </a:rPr>
              <a:t>IN PROGRESS: Sudah meng-accept 1 pelamar, namun pekerjaan belum selesai.</a:t>
            </a:r>
          </a:p>
          <a:p>
            <a:pPr algn="l" marL="534352" indent="-267176" lvl="1">
              <a:lnSpc>
                <a:spcPts val="4455"/>
              </a:lnSpc>
              <a:buFont typeface="Arial"/>
              <a:buChar char="•"/>
            </a:pPr>
            <a:r>
              <a:rPr lang="en-US" sz="2475">
                <a:solidFill>
                  <a:srgbClr val="64748B"/>
                </a:solidFill>
                <a:latin typeface="Quicksand"/>
                <a:ea typeface="Quicksand"/>
                <a:cs typeface="Quicksand"/>
                <a:sym typeface="Quicksand"/>
              </a:rPr>
              <a:t>COMPLETED: Pekerja sudah menyelesaikan kerjaannya dan client sudah mengirimkan bukti pembayaran</a:t>
            </a:r>
          </a:p>
        </p:txBody>
      </p:sp>
      <p:sp>
        <p:nvSpPr>
          <p:cNvPr name="TextBox 12" id="12"/>
          <p:cNvSpPr txBox="true"/>
          <p:nvPr/>
        </p:nvSpPr>
        <p:spPr>
          <a:xfrm rot="0">
            <a:off x="1385888" y="8393430"/>
            <a:ext cx="7472362" cy="417195"/>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my-jobs.tsx, projectController.js, projectService.js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Client : Job Detail</a:t>
              </a:r>
            </a:p>
          </p:txBody>
        </p:sp>
      </p:grpSp>
      <p:sp>
        <p:nvSpPr>
          <p:cNvPr name="Freeform 9" id="9"/>
          <p:cNvSpPr/>
          <p:nvPr/>
        </p:nvSpPr>
        <p:spPr>
          <a:xfrm flipH="false" flipV="false" rot="0">
            <a:off x="8858250" y="2714625"/>
            <a:ext cx="8067878" cy="4265890"/>
          </a:xfrm>
          <a:custGeom>
            <a:avLst/>
            <a:gdLst/>
            <a:ahLst/>
            <a:cxnLst/>
            <a:rect r="r" b="b" t="t" l="l"/>
            <a:pathLst>
              <a:path h="4265890" w="8067878">
                <a:moveTo>
                  <a:pt x="0" y="0"/>
                </a:moveTo>
                <a:lnTo>
                  <a:pt x="8067878" y="0"/>
                </a:lnTo>
                <a:lnTo>
                  <a:pt x="8067878" y="4265890"/>
                </a:lnTo>
                <a:lnTo>
                  <a:pt x="0" y="4265890"/>
                </a:lnTo>
                <a:lnTo>
                  <a:pt x="0" y="0"/>
                </a:lnTo>
                <a:close/>
              </a:path>
            </a:pathLst>
          </a:custGeom>
          <a:blipFill>
            <a:blip r:embed="rId6"/>
            <a:stretch>
              <a:fillRect l="0" t="0" r="0" b="0"/>
            </a:stretch>
          </a:blipFill>
        </p:spPr>
      </p:sp>
      <p:sp>
        <p:nvSpPr>
          <p:cNvPr name="TextBox 10" id="10"/>
          <p:cNvSpPr txBox="true"/>
          <p:nvPr/>
        </p:nvSpPr>
        <p:spPr>
          <a:xfrm rot="0">
            <a:off x="1385888" y="2695575"/>
            <a:ext cx="7845981" cy="304800"/>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Fitur Utama Klien</a:t>
            </a:r>
          </a:p>
        </p:txBody>
      </p:sp>
      <p:sp>
        <p:nvSpPr>
          <p:cNvPr name="TextBox 11" id="11"/>
          <p:cNvSpPr txBox="true"/>
          <p:nvPr/>
        </p:nvSpPr>
        <p:spPr>
          <a:xfrm rot="0">
            <a:off x="1385888" y="3171825"/>
            <a:ext cx="6959615" cy="276415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Client dapat melihat detail pekerjaan dan juga list pelamar yang melamar ke pekerjaan tersebut.</a:t>
            </a:r>
          </a:p>
          <a:p>
            <a:pPr algn="l">
              <a:lnSpc>
                <a:spcPts val="4455"/>
              </a:lnSpc>
            </a:pPr>
            <a:r>
              <a:rPr lang="en-US" sz="2475">
                <a:solidFill>
                  <a:srgbClr val="64748B"/>
                </a:solidFill>
                <a:latin typeface="Quicksand"/>
                <a:ea typeface="Quicksand"/>
                <a:cs typeface="Quicksand"/>
                <a:sym typeface="Quicksand"/>
              </a:rPr>
              <a:t>Disini client dapat menerima ataupun menolak client</a:t>
            </a:r>
          </a:p>
        </p:txBody>
      </p:sp>
      <p:sp>
        <p:nvSpPr>
          <p:cNvPr name="TextBox 12" id="12"/>
          <p:cNvSpPr txBox="true"/>
          <p:nvPr/>
        </p:nvSpPr>
        <p:spPr>
          <a:xfrm rot="0">
            <a:off x="1385888" y="6136005"/>
            <a:ext cx="7472362" cy="417195"/>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manage-applicants.tsx</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Demo Client : Page Pembayaran</a:t>
              </a:r>
            </a:p>
          </p:txBody>
        </p:sp>
      </p:grpSp>
      <p:sp>
        <p:nvSpPr>
          <p:cNvPr name="Freeform 9" id="9"/>
          <p:cNvSpPr/>
          <p:nvPr/>
        </p:nvSpPr>
        <p:spPr>
          <a:xfrm flipH="false" flipV="false" rot="0">
            <a:off x="9558338" y="2549749"/>
            <a:ext cx="7545133" cy="6073832"/>
          </a:xfrm>
          <a:custGeom>
            <a:avLst/>
            <a:gdLst/>
            <a:ahLst/>
            <a:cxnLst/>
            <a:rect r="r" b="b" t="t" l="l"/>
            <a:pathLst>
              <a:path h="6073832" w="7545133">
                <a:moveTo>
                  <a:pt x="0" y="0"/>
                </a:moveTo>
                <a:lnTo>
                  <a:pt x="7545133" y="0"/>
                </a:lnTo>
                <a:lnTo>
                  <a:pt x="7545133" y="6073832"/>
                </a:lnTo>
                <a:lnTo>
                  <a:pt x="0" y="6073832"/>
                </a:lnTo>
                <a:lnTo>
                  <a:pt x="0" y="0"/>
                </a:lnTo>
                <a:close/>
              </a:path>
            </a:pathLst>
          </a:custGeom>
          <a:blipFill>
            <a:blip r:embed="rId6"/>
            <a:stretch>
              <a:fillRect l="0" t="0" r="0" b="0"/>
            </a:stretch>
          </a:blipFill>
        </p:spPr>
      </p:sp>
      <p:sp>
        <p:nvSpPr>
          <p:cNvPr name="TextBox 10" id="10"/>
          <p:cNvSpPr txBox="true"/>
          <p:nvPr/>
        </p:nvSpPr>
        <p:spPr>
          <a:xfrm rot="0">
            <a:off x="1385888" y="2695575"/>
            <a:ext cx="7845981" cy="304800"/>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Fitur Utama Klien</a:t>
            </a:r>
          </a:p>
        </p:txBody>
      </p:sp>
      <p:sp>
        <p:nvSpPr>
          <p:cNvPr name="TextBox 11" id="11"/>
          <p:cNvSpPr txBox="true"/>
          <p:nvPr/>
        </p:nvSpPr>
        <p:spPr>
          <a:xfrm rot="0">
            <a:off x="1385888" y="3171825"/>
            <a:ext cx="6959615" cy="2202180"/>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Ini adalah page yang berisi detail nominal yang harus dibayarkan oleh client dan juga fitur untuk mengupload file bukti pembayaran dengan cloudinary</a:t>
            </a:r>
          </a:p>
        </p:txBody>
      </p:sp>
      <p:sp>
        <p:nvSpPr>
          <p:cNvPr name="TextBox 12" id="12"/>
          <p:cNvSpPr txBox="true"/>
          <p:nvPr/>
        </p:nvSpPr>
        <p:spPr>
          <a:xfrm rot="0">
            <a:off x="1385888" y="6136005"/>
            <a:ext cx="7472362" cy="417195"/>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manage-job.tsx, contractController.js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857250" y="857250"/>
            <a:ext cx="17402175" cy="1203884"/>
            <a:chOff x="0" y="0"/>
            <a:chExt cx="23202900" cy="1605178"/>
          </a:xfrm>
        </p:grpSpPr>
        <p:sp>
          <p:nvSpPr>
            <p:cNvPr name="Freeform 7" id="7"/>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5">
                <a:alphaModFix amt="0"/>
              </a:blip>
              <a:stretch>
                <a:fillRect l="0" t="-250207" r="0" b="-213106"/>
              </a:stretch>
            </a:blipFill>
          </p:spPr>
        </p:sp>
        <p:sp>
          <p:nvSpPr>
            <p:cNvPr name="TextBox 8" id="8"/>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Messages</a:t>
              </a:r>
            </a:p>
          </p:txBody>
        </p:sp>
      </p:grpSp>
      <p:sp>
        <p:nvSpPr>
          <p:cNvPr name="Freeform 9" id="9"/>
          <p:cNvSpPr/>
          <p:nvPr/>
        </p:nvSpPr>
        <p:spPr>
          <a:xfrm flipH="false" flipV="false" rot="0">
            <a:off x="9144000" y="2338388"/>
            <a:ext cx="8115300" cy="6755987"/>
          </a:xfrm>
          <a:custGeom>
            <a:avLst/>
            <a:gdLst/>
            <a:ahLst/>
            <a:cxnLst/>
            <a:rect r="r" b="b" t="t" l="l"/>
            <a:pathLst>
              <a:path h="6755987" w="8115300">
                <a:moveTo>
                  <a:pt x="0" y="0"/>
                </a:moveTo>
                <a:lnTo>
                  <a:pt x="8115300" y="0"/>
                </a:lnTo>
                <a:lnTo>
                  <a:pt x="8115300" y="6755987"/>
                </a:lnTo>
                <a:lnTo>
                  <a:pt x="0" y="6755987"/>
                </a:lnTo>
                <a:lnTo>
                  <a:pt x="0" y="0"/>
                </a:lnTo>
                <a:close/>
              </a:path>
            </a:pathLst>
          </a:custGeom>
          <a:blipFill>
            <a:blip r:embed="rId6"/>
            <a:stretch>
              <a:fillRect l="0" t="0" r="0" b="0"/>
            </a:stretch>
          </a:blipFill>
        </p:spPr>
      </p:sp>
      <p:sp>
        <p:nvSpPr>
          <p:cNvPr name="TextBox 10" id="10"/>
          <p:cNvSpPr txBox="true"/>
          <p:nvPr/>
        </p:nvSpPr>
        <p:spPr>
          <a:xfrm rot="0">
            <a:off x="1385888" y="2695575"/>
            <a:ext cx="1691184" cy="333375"/>
          </a:xfrm>
          <a:prstGeom prst="rect">
            <a:avLst/>
          </a:prstGeom>
        </p:spPr>
        <p:txBody>
          <a:bodyPr anchor="t" rtlCol="false" tIns="0" lIns="0" bIns="0" rIns="0">
            <a:spAutoFit/>
          </a:bodyPr>
          <a:lstStyle/>
          <a:p>
            <a:pPr algn="l">
              <a:lnSpc>
                <a:spcPts val="2527"/>
              </a:lnSpc>
            </a:pPr>
            <a:r>
              <a:rPr lang="en-US" b="true" sz="2106">
                <a:solidFill>
                  <a:srgbClr val="1E293B"/>
                </a:solidFill>
                <a:latin typeface="Comfortaa Bold"/>
                <a:ea typeface="Comfortaa Bold"/>
                <a:cs typeface="Comfortaa Bold"/>
                <a:sym typeface="Comfortaa Bold"/>
              </a:rPr>
              <a:t>Fitur Utama</a:t>
            </a:r>
          </a:p>
        </p:txBody>
      </p:sp>
      <p:sp>
        <p:nvSpPr>
          <p:cNvPr name="TextBox 11" id="11"/>
          <p:cNvSpPr txBox="true"/>
          <p:nvPr/>
        </p:nvSpPr>
        <p:spPr>
          <a:xfrm rot="0">
            <a:off x="1385888" y="3171825"/>
            <a:ext cx="6959615" cy="1078230"/>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Disini Client dan Freelancer dapat saling mengirim pesan</a:t>
            </a:r>
          </a:p>
        </p:txBody>
      </p:sp>
      <p:sp>
        <p:nvSpPr>
          <p:cNvPr name="TextBox 12" id="12"/>
          <p:cNvSpPr txBox="true"/>
          <p:nvPr/>
        </p:nvSpPr>
        <p:spPr>
          <a:xfrm rot="0">
            <a:off x="1385888" y="6136005"/>
            <a:ext cx="7472362" cy="417195"/>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File:</a:t>
            </a:r>
            <a:r>
              <a:rPr lang="en-US" sz="2025">
                <a:solidFill>
                  <a:srgbClr val="64748B"/>
                </a:solidFill>
                <a:latin typeface="Quicksand"/>
                <a:ea typeface="Quicksand"/>
                <a:cs typeface="Quicksand"/>
                <a:sym typeface="Quicksand"/>
              </a:rPr>
              <a:t> messages.tsx, chatController.js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288"/>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8143875" y="3292194"/>
            <a:ext cx="2000250" cy="2000250"/>
          </a:xfrm>
          <a:custGeom>
            <a:avLst/>
            <a:gdLst/>
            <a:ahLst/>
            <a:cxnLst/>
            <a:rect r="r" b="b" t="t" l="l"/>
            <a:pathLst>
              <a:path h="2000250" w="2000250">
                <a:moveTo>
                  <a:pt x="0" y="0"/>
                </a:moveTo>
                <a:lnTo>
                  <a:pt x="2000250" y="0"/>
                </a:lnTo>
                <a:lnTo>
                  <a:pt x="2000250" y="2000250"/>
                </a:lnTo>
                <a:lnTo>
                  <a:pt x="0" y="2000250"/>
                </a:lnTo>
                <a:lnTo>
                  <a:pt x="0" y="0"/>
                </a:lnTo>
                <a:close/>
              </a:path>
            </a:pathLst>
          </a:custGeom>
          <a:blipFill>
            <a:blip r:embed="rId4"/>
            <a:stretch>
              <a:fillRect l="0" t="0" r="0" b="0"/>
            </a:stretch>
          </a:blipFill>
        </p:spPr>
      </p:sp>
      <p:sp>
        <p:nvSpPr>
          <p:cNvPr name="TextBox 5" id="5"/>
          <p:cNvSpPr txBox="true"/>
          <p:nvPr/>
        </p:nvSpPr>
        <p:spPr>
          <a:xfrm rot="0">
            <a:off x="442912" y="5004081"/>
            <a:ext cx="17402175" cy="1162050"/>
          </a:xfrm>
          <a:prstGeom prst="rect">
            <a:avLst/>
          </a:prstGeom>
        </p:spPr>
        <p:txBody>
          <a:bodyPr anchor="t" rtlCol="false" tIns="0" lIns="0" bIns="0" rIns="0">
            <a:spAutoFit/>
          </a:bodyPr>
          <a:lstStyle/>
          <a:p>
            <a:pPr algn="ctr">
              <a:lnSpc>
                <a:spcPts val="9720"/>
              </a:lnSpc>
            </a:pPr>
            <a:r>
              <a:rPr lang="en-US" b="true" sz="8100">
                <a:solidFill>
                  <a:srgbClr val="1E293B"/>
                </a:solidFill>
                <a:latin typeface="Comfortaa Bold"/>
                <a:ea typeface="Comfortaa Bold"/>
                <a:cs typeface="Comfortaa Bold"/>
                <a:sym typeface="Comfortaa Bold"/>
              </a:rPr>
              <a:t>LockIn</a:t>
            </a:r>
          </a:p>
        </p:txBody>
      </p:sp>
      <p:sp>
        <p:nvSpPr>
          <p:cNvPr name="TextBox 6" id="6"/>
          <p:cNvSpPr txBox="true"/>
          <p:nvPr/>
        </p:nvSpPr>
        <p:spPr>
          <a:xfrm rot="0">
            <a:off x="857250" y="6118506"/>
            <a:ext cx="16573500" cy="735330"/>
          </a:xfrm>
          <a:prstGeom prst="rect">
            <a:avLst/>
          </a:prstGeom>
        </p:spPr>
        <p:txBody>
          <a:bodyPr anchor="t" rtlCol="false" tIns="0" lIns="0" bIns="0" rIns="0">
            <a:spAutoFit/>
          </a:bodyPr>
          <a:lstStyle/>
          <a:p>
            <a:pPr algn="ctr">
              <a:lnSpc>
                <a:spcPts val="6480"/>
              </a:lnSpc>
            </a:pPr>
            <a:r>
              <a:rPr lang="en-US" sz="3600">
                <a:solidFill>
                  <a:srgbClr val="8CBBED"/>
                </a:solidFill>
                <a:latin typeface="Quicksand"/>
                <a:ea typeface="Quicksand"/>
                <a:cs typeface="Quicksand"/>
                <a:sym typeface="Quicksand"/>
              </a:rPr>
              <a:t>BACKEND</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sp>
        <p:nvSpPr>
          <p:cNvPr name="TextBox 6" id="6"/>
          <p:cNvSpPr txBox="true"/>
          <p:nvPr/>
        </p:nvSpPr>
        <p:spPr>
          <a:xfrm rot="0">
            <a:off x="1385888" y="3823011"/>
            <a:ext cx="15516225" cy="2202180"/>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Route ini mengembalikan list project yang ada dengan status “open” agar bisa ditampilkan ke user. Pada backend dimap ke getPublicProjects di projectController.js yang memanggil query SELECT pada projects dan join ke users untuk metadata client. Lalu dipanggil dari frontend untuk halaman untuk menampilkan di halamannya.</a:t>
            </a:r>
          </a:p>
        </p:txBody>
      </p:sp>
      <p:grpSp>
        <p:nvGrpSpPr>
          <p:cNvPr name="Group 7" id="7"/>
          <p:cNvGrpSpPr/>
          <p:nvPr/>
        </p:nvGrpSpPr>
        <p:grpSpPr>
          <a:xfrm rot="0">
            <a:off x="1385888" y="6353235"/>
            <a:ext cx="15516225" cy="1296616"/>
            <a:chOff x="0" y="0"/>
            <a:chExt cx="20688300" cy="1728821"/>
          </a:xfrm>
        </p:grpSpPr>
        <p:grpSp>
          <p:nvGrpSpPr>
            <p:cNvPr name="Group 8" id="8"/>
            <p:cNvGrpSpPr/>
            <p:nvPr/>
          </p:nvGrpSpPr>
          <p:grpSpPr>
            <a:xfrm rot="0">
              <a:off x="0" y="0"/>
              <a:ext cx="20688300" cy="1728821"/>
              <a:chOff x="0" y="0"/>
              <a:chExt cx="20688300" cy="1728821"/>
            </a:xfrm>
          </p:grpSpPr>
          <p:sp>
            <p:nvSpPr>
              <p:cNvPr name="Freeform 9" id="9" descr="image.png"/>
              <p:cNvSpPr/>
              <p:nvPr/>
            </p:nvSpPr>
            <p:spPr>
              <a:xfrm flipH="false" flipV="false" rot="0">
                <a:off x="0" y="0"/>
                <a:ext cx="20688300" cy="1728821"/>
              </a:xfrm>
              <a:custGeom>
                <a:avLst/>
                <a:gdLst/>
                <a:ahLst/>
                <a:cxnLst/>
                <a:rect r="r" b="b" t="t" l="l"/>
                <a:pathLst>
                  <a:path h="1728821" w="20688300">
                    <a:moveTo>
                      <a:pt x="0" y="0"/>
                    </a:moveTo>
                    <a:lnTo>
                      <a:pt x="20688300" y="0"/>
                    </a:lnTo>
                    <a:lnTo>
                      <a:pt x="20688300" y="1728821"/>
                    </a:lnTo>
                    <a:lnTo>
                      <a:pt x="0" y="1728821"/>
                    </a:lnTo>
                    <a:lnTo>
                      <a:pt x="0" y="0"/>
                    </a:lnTo>
                    <a:close/>
                  </a:path>
                </a:pathLst>
              </a:custGeom>
              <a:blipFill>
                <a:blip r:embed="rId5"/>
                <a:stretch>
                  <a:fillRect l="0" t="-31541" r="-368" b="-31541"/>
                </a:stretch>
              </a:blipFill>
            </p:spPr>
          </p:sp>
        </p:grpSp>
        <p:sp>
          <p:nvSpPr>
            <p:cNvPr name="TextBox 10" id="10"/>
            <p:cNvSpPr txBox="true"/>
            <p:nvPr/>
          </p:nvSpPr>
          <p:spPr>
            <a:xfrm rot="0">
              <a:off x="381000" y="281940"/>
              <a:ext cx="19926300" cy="1127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GET /projects/public</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Projects</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7" y="4554693"/>
            <a:ext cx="15516225" cy="2506351"/>
            <a:chOff x="0" y="0"/>
            <a:chExt cx="20688300" cy="3341801"/>
          </a:xfrm>
        </p:grpSpPr>
        <p:sp>
          <p:nvSpPr>
            <p:cNvPr name="TextBox 7" id="7"/>
            <p:cNvSpPr txBox="true"/>
            <p:nvPr/>
          </p:nvSpPr>
          <p:spPr>
            <a:xfrm rot="0">
              <a:off x="0" y="-142875"/>
              <a:ext cx="20688300" cy="13900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Digunakan untuk mengambil detail dari project yang ada</a:t>
              </a:r>
              <a:r>
                <a:rPr lang="en-US" sz="2475">
                  <a:solidFill>
                    <a:srgbClr val="64748B"/>
                  </a:solidFill>
                  <a:latin typeface="Quicksand"/>
                  <a:ea typeface="Quicksand"/>
                  <a:cs typeface="Quicksand"/>
                  <a:sym typeface="Quicksand"/>
                </a:rPr>
                <a:t> dan berstatus open. Route ini digunakan oleh page job detail publik di page.tsx</a:t>
              </a:r>
            </a:p>
          </p:txBody>
        </p:sp>
        <p:grpSp>
          <p:nvGrpSpPr>
            <p:cNvPr name="Group 8" id="8"/>
            <p:cNvGrpSpPr/>
            <p:nvPr/>
          </p:nvGrpSpPr>
          <p:grpSpPr>
            <a:xfrm rot="0">
              <a:off x="0" y="1612980"/>
              <a:ext cx="20688300" cy="1728821"/>
              <a:chOff x="0" y="0"/>
              <a:chExt cx="20688300" cy="1728821"/>
            </a:xfrm>
          </p:grpSpPr>
          <p:sp>
            <p:nvSpPr>
              <p:cNvPr name="Freeform 9" id="9" descr="image.png"/>
              <p:cNvSpPr/>
              <p:nvPr/>
            </p:nvSpPr>
            <p:spPr>
              <a:xfrm flipH="false" flipV="false" rot="0">
                <a:off x="0" y="0"/>
                <a:ext cx="20688300" cy="1728821"/>
              </a:xfrm>
              <a:custGeom>
                <a:avLst/>
                <a:gdLst/>
                <a:ahLst/>
                <a:cxnLst/>
                <a:rect r="r" b="b" t="t" l="l"/>
                <a:pathLst>
                  <a:path h="1728821" w="20688300">
                    <a:moveTo>
                      <a:pt x="0" y="0"/>
                    </a:moveTo>
                    <a:lnTo>
                      <a:pt x="20688300" y="0"/>
                    </a:lnTo>
                    <a:lnTo>
                      <a:pt x="20688300" y="1728821"/>
                    </a:lnTo>
                    <a:lnTo>
                      <a:pt x="0" y="1728821"/>
                    </a:lnTo>
                    <a:lnTo>
                      <a:pt x="0" y="0"/>
                    </a:lnTo>
                    <a:close/>
                  </a:path>
                </a:pathLst>
              </a:custGeom>
              <a:blipFill>
                <a:blip r:embed="rId5"/>
                <a:stretch>
                  <a:fillRect l="0" t="-31541" r="-368" b="-31541"/>
                </a:stretch>
              </a:blipFill>
            </p:spPr>
          </p:sp>
        </p:grpSp>
        <p:sp>
          <p:nvSpPr>
            <p:cNvPr name="TextBox 10" id="10"/>
            <p:cNvSpPr txBox="true"/>
            <p:nvPr/>
          </p:nvSpPr>
          <p:spPr>
            <a:xfrm rot="0">
              <a:off x="381000" y="1894920"/>
              <a:ext cx="19926300" cy="1127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GET /projects/public/:id</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Projects</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7" y="4273706"/>
            <a:ext cx="15516225" cy="3068326"/>
            <a:chOff x="0" y="0"/>
            <a:chExt cx="20688300" cy="4091101"/>
          </a:xfrm>
        </p:grpSpPr>
        <p:sp>
          <p:nvSpPr>
            <p:cNvPr name="TextBox 7" id="7"/>
            <p:cNvSpPr txBox="true"/>
            <p:nvPr/>
          </p:nvSpPr>
          <p:spPr>
            <a:xfrm rot="0">
              <a:off x="0" y="-142875"/>
              <a:ext cx="20688300" cy="21393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Mengambil semua project milik yang hanya dimiliki oleh user, untuk diletakkan pada bagian dashboard client. Pada backend getAllProjects menggunakan client_id</a:t>
              </a:r>
              <a:r>
                <a:rPr lang="en-US" sz="2475">
                  <a:solidFill>
                    <a:srgbClr val="64748B"/>
                  </a:solidFill>
                  <a:latin typeface="Quicksand"/>
                  <a:ea typeface="Quicksand"/>
                  <a:cs typeface="Quicksand"/>
                  <a:sym typeface="Quicksand"/>
                </a:rPr>
                <a:t> dari token untuk SELECT project milik user. Dipanggil dari halaman seperti my-jobs.tsx ketika client melihat list pekerjaannya.</a:t>
              </a:r>
            </a:p>
          </p:txBody>
        </p:sp>
        <p:grpSp>
          <p:nvGrpSpPr>
            <p:cNvPr name="Group 8" id="8"/>
            <p:cNvGrpSpPr/>
            <p:nvPr/>
          </p:nvGrpSpPr>
          <p:grpSpPr>
            <a:xfrm rot="0">
              <a:off x="0" y="2362280"/>
              <a:ext cx="20688300" cy="1728821"/>
              <a:chOff x="0" y="0"/>
              <a:chExt cx="20688300" cy="1728821"/>
            </a:xfrm>
          </p:grpSpPr>
          <p:sp>
            <p:nvSpPr>
              <p:cNvPr name="Freeform 9" id="9" descr="image.png"/>
              <p:cNvSpPr/>
              <p:nvPr/>
            </p:nvSpPr>
            <p:spPr>
              <a:xfrm flipH="false" flipV="false" rot="0">
                <a:off x="0" y="0"/>
                <a:ext cx="20688300" cy="1728821"/>
              </a:xfrm>
              <a:custGeom>
                <a:avLst/>
                <a:gdLst/>
                <a:ahLst/>
                <a:cxnLst/>
                <a:rect r="r" b="b" t="t" l="l"/>
                <a:pathLst>
                  <a:path h="1728821" w="20688300">
                    <a:moveTo>
                      <a:pt x="0" y="0"/>
                    </a:moveTo>
                    <a:lnTo>
                      <a:pt x="20688300" y="0"/>
                    </a:lnTo>
                    <a:lnTo>
                      <a:pt x="20688300" y="1728821"/>
                    </a:lnTo>
                    <a:lnTo>
                      <a:pt x="0" y="1728821"/>
                    </a:lnTo>
                    <a:lnTo>
                      <a:pt x="0" y="0"/>
                    </a:lnTo>
                    <a:close/>
                  </a:path>
                </a:pathLst>
              </a:custGeom>
              <a:blipFill>
                <a:blip r:embed="rId5"/>
                <a:stretch>
                  <a:fillRect l="0" t="-31541" r="-368" b="-31541"/>
                </a:stretch>
              </a:blipFill>
            </p:spPr>
          </p:sp>
        </p:grpSp>
        <p:sp>
          <p:nvSpPr>
            <p:cNvPr name="TextBox 10" id="10"/>
            <p:cNvSpPr txBox="true"/>
            <p:nvPr/>
          </p:nvSpPr>
          <p:spPr>
            <a:xfrm rot="0">
              <a:off x="381000" y="2644220"/>
              <a:ext cx="19926300" cy="1127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GET /projects (auth)</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Projects</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8" y="3992718"/>
            <a:ext cx="15516225" cy="3630301"/>
            <a:chOff x="0" y="0"/>
            <a:chExt cx="20688300" cy="4840401"/>
          </a:xfrm>
        </p:grpSpPr>
        <p:sp>
          <p:nvSpPr>
            <p:cNvPr name="TextBox 7" id="7"/>
            <p:cNvSpPr txBox="true"/>
            <p:nvPr/>
          </p:nvSpPr>
          <p:spPr>
            <a:xfrm rot="0">
              <a:off x="0" y="-142875"/>
              <a:ext cx="20688300" cy="28886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Hanya mengambil satu project menggunakan auth, dimana jika requester adalah owner, maka akan mereturn data lengkap, kalau freelancer akan mereturn detail plus status bid/contract jika ada. Implementasinya ada</a:t>
              </a:r>
              <a:r>
                <a:rPr lang="en-US" sz="2475">
                  <a:solidFill>
                    <a:srgbClr val="64748B"/>
                  </a:solidFill>
                  <a:latin typeface="Quicksand"/>
                  <a:ea typeface="Quicksand"/>
                  <a:cs typeface="Quicksand"/>
                  <a:sym typeface="Quicksand"/>
                </a:rPr>
                <a:t> di getProjectById dan getProjectDetailsForFreelancer. Digunakan di halaman job detail saat user sudah login. Contohnya pada page.tsx dan di my-jobs.tsx saat load detail job milik client.</a:t>
              </a:r>
            </a:p>
          </p:txBody>
        </p:sp>
        <p:grpSp>
          <p:nvGrpSpPr>
            <p:cNvPr name="Group 8" id="8"/>
            <p:cNvGrpSpPr/>
            <p:nvPr/>
          </p:nvGrpSpPr>
          <p:grpSpPr>
            <a:xfrm rot="0">
              <a:off x="0" y="3111580"/>
              <a:ext cx="20688300" cy="1728821"/>
              <a:chOff x="0" y="0"/>
              <a:chExt cx="20688300" cy="1728821"/>
            </a:xfrm>
          </p:grpSpPr>
          <p:sp>
            <p:nvSpPr>
              <p:cNvPr name="Freeform 9" id="9" descr="image.png"/>
              <p:cNvSpPr/>
              <p:nvPr/>
            </p:nvSpPr>
            <p:spPr>
              <a:xfrm flipH="false" flipV="false" rot="0">
                <a:off x="0" y="0"/>
                <a:ext cx="20688300" cy="1728821"/>
              </a:xfrm>
              <a:custGeom>
                <a:avLst/>
                <a:gdLst/>
                <a:ahLst/>
                <a:cxnLst/>
                <a:rect r="r" b="b" t="t" l="l"/>
                <a:pathLst>
                  <a:path h="1728821" w="20688300">
                    <a:moveTo>
                      <a:pt x="0" y="0"/>
                    </a:moveTo>
                    <a:lnTo>
                      <a:pt x="20688300" y="0"/>
                    </a:lnTo>
                    <a:lnTo>
                      <a:pt x="20688300" y="1728821"/>
                    </a:lnTo>
                    <a:lnTo>
                      <a:pt x="0" y="1728821"/>
                    </a:lnTo>
                    <a:lnTo>
                      <a:pt x="0" y="0"/>
                    </a:lnTo>
                    <a:close/>
                  </a:path>
                </a:pathLst>
              </a:custGeom>
              <a:blipFill>
                <a:blip r:embed="rId5"/>
                <a:stretch>
                  <a:fillRect l="0" t="-31541" r="-368" b="-31541"/>
                </a:stretch>
              </a:blipFill>
            </p:spPr>
          </p:sp>
        </p:grpSp>
        <p:sp>
          <p:nvSpPr>
            <p:cNvPr name="TextBox 10" id="10"/>
            <p:cNvSpPr txBox="true"/>
            <p:nvPr/>
          </p:nvSpPr>
          <p:spPr>
            <a:xfrm rot="0">
              <a:off x="381000" y="3393520"/>
              <a:ext cx="19926300" cy="1127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GET /projects/:id (auth)</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Projects</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8" y="3992718"/>
            <a:ext cx="15516225" cy="3630301"/>
            <a:chOff x="0" y="0"/>
            <a:chExt cx="20688300" cy="4840401"/>
          </a:xfrm>
        </p:grpSpPr>
        <p:sp>
          <p:nvSpPr>
            <p:cNvPr name="TextBox 7" id="7"/>
            <p:cNvSpPr txBox="true"/>
            <p:nvPr/>
          </p:nvSpPr>
          <p:spPr>
            <a:xfrm rot="0">
              <a:off x="0" y="-142875"/>
              <a:ext cx="20688300" cy="28886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Mengembalikan list project yang diapply oleh freelancer baik yang berasal dari message bids ataupun aplikasi. Backend </a:t>
              </a:r>
              <a:r>
                <a:rPr lang="en-US" sz="2475">
                  <a:solidFill>
                    <a:srgbClr val="64748B"/>
                  </a:solidFill>
                  <a:latin typeface="Quicksand"/>
                  <a:ea typeface="Quicksand"/>
                  <a:cs typeface="Quicksand"/>
                  <a:sym typeface="Quicksand"/>
                </a:rPr>
                <a:t>getAppliedProjectsForFreelancer join ke bids, contracts, dan conversations. Dipakai di my-jobs.tsx dan pada bagian “applied” di shared.tsx untuk menampilkan pekerjaan yang sudah dilamar freelancer.</a:t>
              </a:r>
            </a:p>
          </p:txBody>
        </p:sp>
        <p:grpSp>
          <p:nvGrpSpPr>
            <p:cNvPr name="Group 8" id="8"/>
            <p:cNvGrpSpPr/>
            <p:nvPr/>
          </p:nvGrpSpPr>
          <p:grpSpPr>
            <a:xfrm rot="0">
              <a:off x="0" y="3111580"/>
              <a:ext cx="20688300" cy="1728821"/>
              <a:chOff x="0" y="0"/>
              <a:chExt cx="20688300" cy="1728821"/>
            </a:xfrm>
          </p:grpSpPr>
          <p:sp>
            <p:nvSpPr>
              <p:cNvPr name="Freeform 9" id="9" descr="image.png"/>
              <p:cNvSpPr/>
              <p:nvPr/>
            </p:nvSpPr>
            <p:spPr>
              <a:xfrm flipH="false" flipV="false" rot="0">
                <a:off x="0" y="0"/>
                <a:ext cx="20688300" cy="1728821"/>
              </a:xfrm>
              <a:custGeom>
                <a:avLst/>
                <a:gdLst/>
                <a:ahLst/>
                <a:cxnLst/>
                <a:rect r="r" b="b" t="t" l="l"/>
                <a:pathLst>
                  <a:path h="1728821" w="20688300">
                    <a:moveTo>
                      <a:pt x="0" y="0"/>
                    </a:moveTo>
                    <a:lnTo>
                      <a:pt x="20688300" y="0"/>
                    </a:lnTo>
                    <a:lnTo>
                      <a:pt x="20688300" y="1728821"/>
                    </a:lnTo>
                    <a:lnTo>
                      <a:pt x="0" y="1728821"/>
                    </a:lnTo>
                    <a:lnTo>
                      <a:pt x="0" y="0"/>
                    </a:lnTo>
                    <a:close/>
                  </a:path>
                </a:pathLst>
              </a:custGeom>
              <a:blipFill>
                <a:blip r:embed="rId5"/>
                <a:stretch>
                  <a:fillRect l="0" t="-31541" r="-368" b="-31541"/>
                </a:stretch>
              </a:blipFill>
            </p:spPr>
          </p:sp>
        </p:grpSp>
        <p:sp>
          <p:nvSpPr>
            <p:cNvPr name="TextBox 10" id="10"/>
            <p:cNvSpPr txBox="true"/>
            <p:nvPr/>
          </p:nvSpPr>
          <p:spPr>
            <a:xfrm rot="0">
              <a:off x="381000" y="3393520"/>
              <a:ext cx="19926300" cy="1127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GET /projects/applied</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Projects</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8" y="4273706"/>
            <a:ext cx="15516225" cy="3068326"/>
            <a:chOff x="0" y="0"/>
            <a:chExt cx="20688300" cy="4091101"/>
          </a:xfrm>
        </p:grpSpPr>
        <p:sp>
          <p:nvSpPr>
            <p:cNvPr name="TextBox 7" id="7"/>
            <p:cNvSpPr txBox="true"/>
            <p:nvPr/>
          </p:nvSpPr>
          <p:spPr>
            <a:xfrm rot="0">
              <a:off x="0" y="-142875"/>
              <a:ext cx="20688300" cy="21393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Untuk membuat project baru bagi client. Nantinya endpoint akan menerima judul, deskripsi, rentang budget, skills, dll., lalu menyimpan k</a:t>
              </a:r>
              <a:r>
                <a:rPr lang="en-US" sz="2475">
                  <a:solidFill>
                    <a:srgbClr val="64748B"/>
                  </a:solidFill>
                  <a:latin typeface="Quicksand"/>
                  <a:ea typeface="Quicksand"/>
                  <a:cs typeface="Quicksand"/>
                  <a:sym typeface="Quicksand"/>
                </a:rPr>
                <a:t>e tabel projects. Handler createProject memvalidasi input dan memanggil service insert. Digunakan di form posting pekerjaan yaitu post-job.tsx.</a:t>
              </a:r>
            </a:p>
          </p:txBody>
        </p:sp>
        <p:grpSp>
          <p:nvGrpSpPr>
            <p:cNvPr name="Group 8" id="8"/>
            <p:cNvGrpSpPr/>
            <p:nvPr/>
          </p:nvGrpSpPr>
          <p:grpSpPr>
            <a:xfrm rot="0">
              <a:off x="0" y="2362280"/>
              <a:ext cx="20688300" cy="1728821"/>
              <a:chOff x="0" y="0"/>
              <a:chExt cx="20688300" cy="1728821"/>
            </a:xfrm>
          </p:grpSpPr>
          <p:sp>
            <p:nvSpPr>
              <p:cNvPr name="Freeform 9" id="9" descr="image.png"/>
              <p:cNvSpPr/>
              <p:nvPr/>
            </p:nvSpPr>
            <p:spPr>
              <a:xfrm flipH="false" flipV="false" rot="0">
                <a:off x="0" y="0"/>
                <a:ext cx="20688300" cy="1728821"/>
              </a:xfrm>
              <a:custGeom>
                <a:avLst/>
                <a:gdLst/>
                <a:ahLst/>
                <a:cxnLst/>
                <a:rect r="r" b="b" t="t" l="l"/>
                <a:pathLst>
                  <a:path h="1728821" w="20688300">
                    <a:moveTo>
                      <a:pt x="0" y="0"/>
                    </a:moveTo>
                    <a:lnTo>
                      <a:pt x="20688300" y="0"/>
                    </a:lnTo>
                    <a:lnTo>
                      <a:pt x="20688300" y="1728821"/>
                    </a:lnTo>
                    <a:lnTo>
                      <a:pt x="0" y="1728821"/>
                    </a:lnTo>
                    <a:lnTo>
                      <a:pt x="0" y="0"/>
                    </a:lnTo>
                    <a:close/>
                  </a:path>
                </a:pathLst>
              </a:custGeom>
              <a:blipFill>
                <a:blip r:embed="rId5"/>
                <a:stretch>
                  <a:fillRect l="0" t="-31541" r="-368" b="-31541"/>
                </a:stretch>
              </a:blipFill>
            </p:spPr>
          </p:sp>
        </p:grpSp>
        <p:sp>
          <p:nvSpPr>
            <p:cNvPr name="TextBox 10" id="10"/>
            <p:cNvSpPr txBox="true"/>
            <p:nvPr/>
          </p:nvSpPr>
          <p:spPr>
            <a:xfrm rot="0">
              <a:off x="381000" y="2644220"/>
              <a:ext cx="19926300" cy="1127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POST /projects</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Projects</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7" y="3756776"/>
            <a:ext cx="15516225" cy="4102186"/>
            <a:chOff x="0" y="0"/>
            <a:chExt cx="20688300" cy="5469581"/>
          </a:xfrm>
        </p:grpSpPr>
        <p:sp>
          <p:nvSpPr>
            <p:cNvPr name="TextBox 7" id="7"/>
            <p:cNvSpPr txBox="true"/>
            <p:nvPr/>
          </p:nvSpPr>
          <p:spPr>
            <a:xfrm rot="0">
              <a:off x="0" y="-142875"/>
              <a:ext cx="20688300" cy="28886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Pada endpoint ini, nantinya akan menerima email dan password, lalu memverifikasi password dan mereturn JWT +</a:t>
              </a:r>
              <a:r>
                <a:rPr lang="en-US" sz="2475">
                  <a:solidFill>
                    <a:srgbClr val="64748B"/>
                  </a:solidFill>
                  <a:latin typeface="Quicksand"/>
                  <a:ea typeface="Quicksand"/>
                  <a:cs typeface="Quicksand"/>
                  <a:sym typeface="Quicksand"/>
                </a:rPr>
                <a:t> data user, serta digunakan juga untuk keperluan auth. Di backend login di userController.js memanggil userService.findByEmail dan bcrypt. Dipanggil dari page login yaitu login.tsx.</a:t>
              </a:r>
            </a:p>
            <a:p>
              <a:pPr algn="l">
                <a:lnSpc>
                  <a:spcPts val="4455"/>
                </a:lnSpc>
              </a:pPr>
              <a:r>
                <a:rPr lang="en-US" sz="2475">
                  <a:solidFill>
                    <a:srgbClr val="64748B"/>
                  </a:solidFill>
                  <a:latin typeface="Quicksand"/>
                  <a:ea typeface="Quicksand"/>
                  <a:cs typeface="Quicksand"/>
                  <a:sym typeface="Quicksand"/>
                </a:rPr>
                <a:t>Lalu berfungsi juga untuk untuk registrasi user baru, membuat akun dan profile awal.</a:t>
              </a:r>
            </a:p>
          </p:txBody>
        </p:sp>
        <p:grpSp>
          <p:nvGrpSpPr>
            <p:cNvPr name="Group 8" id="8"/>
            <p:cNvGrpSpPr/>
            <p:nvPr/>
          </p:nvGrpSpPr>
          <p:grpSpPr>
            <a:xfrm rot="0">
              <a:off x="0" y="3111580"/>
              <a:ext cx="20688300" cy="2358001"/>
              <a:chOff x="0" y="0"/>
              <a:chExt cx="20688300" cy="2358001"/>
            </a:xfrm>
          </p:grpSpPr>
          <p:sp>
            <p:nvSpPr>
              <p:cNvPr name="Freeform 9" id="9" descr="image.png"/>
              <p:cNvSpPr/>
              <p:nvPr/>
            </p:nvSpPr>
            <p:spPr>
              <a:xfrm flipH="false" flipV="false" rot="0">
                <a:off x="0" y="0"/>
                <a:ext cx="20688300" cy="2358001"/>
              </a:xfrm>
              <a:custGeom>
                <a:avLst/>
                <a:gdLst/>
                <a:ahLst/>
                <a:cxnLst/>
                <a:rect r="r" b="b" t="t" l="l"/>
                <a:pathLst>
                  <a:path h="2358001" w="20688300">
                    <a:moveTo>
                      <a:pt x="0" y="0"/>
                    </a:moveTo>
                    <a:lnTo>
                      <a:pt x="20688300" y="0"/>
                    </a:lnTo>
                    <a:lnTo>
                      <a:pt x="20688300" y="2358001"/>
                    </a:lnTo>
                    <a:lnTo>
                      <a:pt x="0" y="2358001"/>
                    </a:lnTo>
                    <a:lnTo>
                      <a:pt x="0" y="0"/>
                    </a:lnTo>
                    <a:close/>
                  </a:path>
                </a:pathLst>
              </a:custGeom>
              <a:blipFill>
                <a:blip r:embed="rId5"/>
                <a:stretch>
                  <a:fillRect l="0" t="-9783" r="-368" b="-9783"/>
                </a:stretch>
              </a:blipFill>
            </p:spPr>
          </p:sp>
        </p:grpSp>
        <p:sp>
          <p:nvSpPr>
            <p:cNvPr name="TextBox 10" id="10"/>
            <p:cNvSpPr txBox="true"/>
            <p:nvPr/>
          </p:nvSpPr>
          <p:spPr>
            <a:xfrm rot="0">
              <a:off x="381000" y="3393520"/>
              <a:ext cx="19926300" cy="17373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POST /user/login</a:t>
              </a:r>
            </a:p>
            <a:p>
              <a:pPr algn="l">
                <a:lnSpc>
                  <a:spcPts val="3645"/>
                </a:lnSpc>
              </a:pPr>
              <a:r>
                <a:rPr lang="en-US" b="true" sz="2025">
                  <a:solidFill>
                    <a:srgbClr val="1E293B"/>
                  </a:solidFill>
                  <a:latin typeface="Quicksand Bold"/>
                  <a:ea typeface="Quicksand Bold"/>
                  <a:cs typeface="Quicksand Bold"/>
                  <a:sym typeface="Quicksand Bold"/>
                </a:rPr>
                <a:t>POST /user/register</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Users</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8" y="3711731"/>
            <a:ext cx="15516225" cy="3630301"/>
            <a:chOff x="0" y="0"/>
            <a:chExt cx="20688300" cy="4840401"/>
          </a:xfrm>
        </p:grpSpPr>
        <p:sp>
          <p:nvSpPr>
            <p:cNvPr name="TextBox 7" id="7"/>
            <p:cNvSpPr txBox="true"/>
            <p:nvPr/>
          </p:nvSpPr>
          <p:spPr>
            <a:xfrm rot="0">
              <a:off x="0" y="-142875"/>
              <a:ext cx="20688300" cy="28886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Digunakan untuk membuat conversation antara dua user atau untuk mereturn conversation yang sudah</a:t>
              </a:r>
              <a:r>
                <a:rPr lang="en-US" sz="2475">
                  <a:solidFill>
                    <a:srgbClr val="64748B"/>
                  </a:solidFill>
                  <a:latin typeface="Quicksand"/>
                  <a:ea typeface="Quicksand"/>
                  <a:cs typeface="Quicksand"/>
                  <a:sym typeface="Quicksand"/>
                </a:rPr>
                <a:t> ada, dimana jika job diapply, controller akan mengirim template message. Implementasinya ada di chatController.createConversation dan chatService.getOrCreateConversation. Digunakan dari UI chat/lihat profil/job untuk memulai chat, dipanggil dari messages.tsx dan tombol “Message” di shared.tsx.</a:t>
              </a:r>
            </a:p>
          </p:txBody>
        </p:sp>
        <p:grpSp>
          <p:nvGrpSpPr>
            <p:cNvPr name="Group 8" id="8"/>
            <p:cNvGrpSpPr/>
            <p:nvPr/>
          </p:nvGrpSpPr>
          <p:grpSpPr>
            <a:xfrm rot="0">
              <a:off x="0" y="3111580"/>
              <a:ext cx="20688300" cy="1728821"/>
              <a:chOff x="0" y="0"/>
              <a:chExt cx="20688300" cy="1728821"/>
            </a:xfrm>
          </p:grpSpPr>
          <p:sp>
            <p:nvSpPr>
              <p:cNvPr name="Freeform 9" id="9" descr="image.png"/>
              <p:cNvSpPr/>
              <p:nvPr/>
            </p:nvSpPr>
            <p:spPr>
              <a:xfrm flipH="false" flipV="false" rot="0">
                <a:off x="0" y="0"/>
                <a:ext cx="20688300" cy="1728821"/>
              </a:xfrm>
              <a:custGeom>
                <a:avLst/>
                <a:gdLst/>
                <a:ahLst/>
                <a:cxnLst/>
                <a:rect r="r" b="b" t="t" l="l"/>
                <a:pathLst>
                  <a:path h="1728821" w="20688300">
                    <a:moveTo>
                      <a:pt x="0" y="0"/>
                    </a:moveTo>
                    <a:lnTo>
                      <a:pt x="20688300" y="0"/>
                    </a:lnTo>
                    <a:lnTo>
                      <a:pt x="20688300" y="1728821"/>
                    </a:lnTo>
                    <a:lnTo>
                      <a:pt x="0" y="1728821"/>
                    </a:lnTo>
                    <a:lnTo>
                      <a:pt x="0" y="0"/>
                    </a:lnTo>
                    <a:close/>
                  </a:path>
                </a:pathLst>
              </a:custGeom>
              <a:blipFill>
                <a:blip r:embed="rId5"/>
                <a:stretch>
                  <a:fillRect l="0" t="-31541" r="-368" b="-31541"/>
                </a:stretch>
              </a:blipFill>
            </p:spPr>
          </p:sp>
        </p:grpSp>
        <p:sp>
          <p:nvSpPr>
            <p:cNvPr name="TextBox 10" id="10"/>
            <p:cNvSpPr txBox="true"/>
            <p:nvPr/>
          </p:nvSpPr>
          <p:spPr>
            <a:xfrm rot="0">
              <a:off x="381000" y="3393520"/>
              <a:ext cx="19926300" cy="1127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POST /messages</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Messages</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7" y="4273706"/>
            <a:ext cx="15516225" cy="3068326"/>
            <a:chOff x="0" y="0"/>
            <a:chExt cx="20688300" cy="4091101"/>
          </a:xfrm>
        </p:grpSpPr>
        <p:sp>
          <p:nvSpPr>
            <p:cNvPr name="TextBox 7" id="7"/>
            <p:cNvSpPr txBox="true"/>
            <p:nvPr/>
          </p:nvSpPr>
          <p:spPr>
            <a:xfrm rot="0">
              <a:off x="0" y="-142875"/>
              <a:ext cx="20688300" cy="21393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Digunakan untuk mengambil list chat antar user</a:t>
              </a:r>
              <a:r>
                <a:rPr lang="en-US" sz="2475">
                  <a:solidFill>
                    <a:srgbClr val="64748B"/>
                  </a:solidFill>
                  <a:latin typeface="Quicksand"/>
                  <a:ea typeface="Quicksand"/>
                  <a:cs typeface="Quicksand"/>
                  <a:sym typeface="Quicksand"/>
                </a:rPr>
                <a:t>. Nantinya handler getConversations akan memanggil chatService.getConversationsByUserId. Route tersebut dipanggil oleh page message inbox yaitu messages.tsx dan bagian pesan di shared.tsx.</a:t>
              </a:r>
            </a:p>
          </p:txBody>
        </p:sp>
        <p:grpSp>
          <p:nvGrpSpPr>
            <p:cNvPr name="Group 8" id="8"/>
            <p:cNvGrpSpPr/>
            <p:nvPr/>
          </p:nvGrpSpPr>
          <p:grpSpPr>
            <a:xfrm rot="0">
              <a:off x="0" y="2362280"/>
              <a:ext cx="20688300" cy="1728821"/>
              <a:chOff x="0" y="0"/>
              <a:chExt cx="20688300" cy="1728821"/>
            </a:xfrm>
          </p:grpSpPr>
          <p:sp>
            <p:nvSpPr>
              <p:cNvPr name="Freeform 9" id="9" descr="image.png"/>
              <p:cNvSpPr/>
              <p:nvPr/>
            </p:nvSpPr>
            <p:spPr>
              <a:xfrm flipH="false" flipV="false" rot="0">
                <a:off x="0" y="0"/>
                <a:ext cx="20688300" cy="1728821"/>
              </a:xfrm>
              <a:custGeom>
                <a:avLst/>
                <a:gdLst/>
                <a:ahLst/>
                <a:cxnLst/>
                <a:rect r="r" b="b" t="t" l="l"/>
                <a:pathLst>
                  <a:path h="1728821" w="20688300">
                    <a:moveTo>
                      <a:pt x="0" y="0"/>
                    </a:moveTo>
                    <a:lnTo>
                      <a:pt x="20688300" y="0"/>
                    </a:lnTo>
                    <a:lnTo>
                      <a:pt x="20688300" y="1728821"/>
                    </a:lnTo>
                    <a:lnTo>
                      <a:pt x="0" y="1728821"/>
                    </a:lnTo>
                    <a:lnTo>
                      <a:pt x="0" y="0"/>
                    </a:lnTo>
                    <a:close/>
                  </a:path>
                </a:pathLst>
              </a:custGeom>
              <a:blipFill>
                <a:blip r:embed="rId5"/>
                <a:stretch>
                  <a:fillRect l="0" t="-31541" r="-368" b="-31541"/>
                </a:stretch>
              </a:blipFill>
            </p:spPr>
          </p:sp>
        </p:grpSp>
        <p:sp>
          <p:nvSpPr>
            <p:cNvPr name="TextBox 10" id="10"/>
            <p:cNvSpPr txBox="true"/>
            <p:nvPr/>
          </p:nvSpPr>
          <p:spPr>
            <a:xfrm rot="0">
              <a:off x="381000" y="2644220"/>
              <a:ext cx="19926300" cy="1127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GET /messages</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Messages</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7" y="4273706"/>
            <a:ext cx="15516225" cy="3068326"/>
            <a:chOff x="0" y="0"/>
            <a:chExt cx="20688300" cy="4091101"/>
          </a:xfrm>
        </p:grpSpPr>
        <p:sp>
          <p:nvSpPr>
            <p:cNvPr name="TextBox 7" id="7"/>
            <p:cNvSpPr txBox="true"/>
            <p:nvPr/>
          </p:nvSpPr>
          <p:spPr>
            <a:xfrm rot="0">
              <a:off x="0" y="-142875"/>
              <a:ext cx="20688300" cy="21393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Digunakan untuk mengambil semua pesan pada satu conversation, dan memverifikasi akses user</a:t>
              </a:r>
              <a:r>
                <a:rPr lang="en-US" sz="2475">
                  <a:solidFill>
                    <a:srgbClr val="64748B"/>
                  </a:solidFill>
                  <a:latin typeface="Quicksand"/>
                  <a:ea typeface="Quicksand"/>
                  <a:cs typeface="Quicksand"/>
                  <a:sym typeface="Quicksand"/>
                </a:rPr>
                <a:t>. Handler getMessages akan memanggil chatService.getMessagesByConversationId. Lalu route ini dipakai oleh view percakapan di messages.tsx.</a:t>
              </a:r>
            </a:p>
          </p:txBody>
        </p:sp>
        <p:grpSp>
          <p:nvGrpSpPr>
            <p:cNvPr name="Group 8" id="8"/>
            <p:cNvGrpSpPr/>
            <p:nvPr/>
          </p:nvGrpSpPr>
          <p:grpSpPr>
            <a:xfrm rot="0">
              <a:off x="0" y="2362280"/>
              <a:ext cx="20688300" cy="1728821"/>
              <a:chOff x="0" y="0"/>
              <a:chExt cx="20688300" cy="1728821"/>
            </a:xfrm>
          </p:grpSpPr>
          <p:sp>
            <p:nvSpPr>
              <p:cNvPr name="Freeform 9" id="9" descr="image.png"/>
              <p:cNvSpPr/>
              <p:nvPr/>
            </p:nvSpPr>
            <p:spPr>
              <a:xfrm flipH="false" flipV="false" rot="0">
                <a:off x="0" y="0"/>
                <a:ext cx="20688300" cy="1728821"/>
              </a:xfrm>
              <a:custGeom>
                <a:avLst/>
                <a:gdLst/>
                <a:ahLst/>
                <a:cxnLst/>
                <a:rect r="r" b="b" t="t" l="l"/>
                <a:pathLst>
                  <a:path h="1728821" w="20688300">
                    <a:moveTo>
                      <a:pt x="0" y="0"/>
                    </a:moveTo>
                    <a:lnTo>
                      <a:pt x="20688300" y="0"/>
                    </a:lnTo>
                    <a:lnTo>
                      <a:pt x="20688300" y="1728821"/>
                    </a:lnTo>
                    <a:lnTo>
                      <a:pt x="0" y="1728821"/>
                    </a:lnTo>
                    <a:lnTo>
                      <a:pt x="0" y="0"/>
                    </a:lnTo>
                    <a:close/>
                  </a:path>
                </a:pathLst>
              </a:custGeom>
              <a:blipFill>
                <a:blip r:embed="rId5"/>
                <a:stretch>
                  <a:fillRect l="0" t="-31541" r="-368" b="-31541"/>
                </a:stretch>
              </a:blipFill>
            </p:spPr>
          </p:sp>
        </p:grpSp>
        <p:sp>
          <p:nvSpPr>
            <p:cNvPr name="TextBox 10" id="10"/>
            <p:cNvSpPr txBox="true"/>
            <p:nvPr/>
          </p:nvSpPr>
          <p:spPr>
            <a:xfrm rot="0">
              <a:off x="381000" y="2644220"/>
              <a:ext cx="19926300" cy="1127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GET /messages/:conversationId/messages</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Messages</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7" y="4273706"/>
            <a:ext cx="15516225" cy="3068326"/>
            <a:chOff x="0" y="0"/>
            <a:chExt cx="20688300" cy="4091101"/>
          </a:xfrm>
        </p:grpSpPr>
        <p:sp>
          <p:nvSpPr>
            <p:cNvPr name="TextBox 7" id="7"/>
            <p:cNvSpPr txBox="true"/>
            <p:nvPr/>
          </p:nvSpPr>
          <p:spPr>
            <a:xfrm rot="0">
              <a:off x="0" y="-142875"/>
              <a:ext cx="20688300" cy="21393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Digunakan untuk menambahkan pesan baru ke conversation, lalu memvalidasi bahwa user</a:t>
              </a:r>
              <a:r>
                <a:rPr lang="en-US" sz="2475">
                  <a:solidFill>
                    <a:srgbClr val="64748B"/>
                  </a:solidFill>
                  <a:latin typeface="Quicksand"/>
                  <a:ea typeface="Quicksand"/>
                  <a:cs typeface="Quicksand"/>
                  <a:sym typeface="Quicksand"/>
                </a:rPr>
                <a:t> adalah participant, dan akan di INSERT ke messages dan update conversations.updated_at. Digunakan di UI chat (kirim pesan) dalam messages.tsx.</a:t>
              </a:r>
            </a:p>
          </p:txBody>
        </p:sp>
        <p:grpSp>
          <p:nvGrpSpPr>
            <p:cNvPr name="Group 8" id="8"/>
            <p:cNvGrpSpPr/>
            <p:nvPr/>
          </p:nvGrpSpPr>
          <p:grpSpPr>
            <a:xfrm rot="0">
              <a:off x="0" y="2362280"/>
              <a:ext cx="20688300" cy="1728821"/>
              <a:chOff x="0" y="0"/>
              <a:chExt cx="20688300" cy="1728821"/>
            </a:xfrm>
          </p:grpSpPr>
          <p:sp>
            <p:nvSpPr>
              <p:cNvPr name="Freeform 9" id="9" descr="image.png"/>
              <p:cNvSpPr/>
              <p:nvPr/>
            </p:nvSpPr>
            <p:spPr>
              <a:xfrm flipH="false" flipV="false" rot="0">
                <a:off x="0" y="0"/>
                <a:ext cx="20688300" cy="1728821"/>
              </a:xfrm>
              <a:custGeom>
                <a:avLst/>
                <a:gdLst/>
                <a:ahLst/>
                <a:cxnLst/>
                <a:rect r="r" b="b" t="t" l="l"/>
                <a:pathLst>
                  <a:path h="1728821" w="20688300">
                    <a:moveTo>
                      <a:pt x="0" y="0"/>
                    </a:moveTo>
                    <a:lnTo>
                      <a:pt x="20688300" y="0"/>
                    </a:lnTo>
                    <a:lnTo>
                      <a:pt x="20688300" y="1728821"/>
                    </a:lnTo>
                    <a:lnTo>
                      <a:pt x="0" y="1728821"/>
                    </a:lnTo>
                    <a:lnTo>
                      <a:pt x="0" y="0"/>
                    </a:lnTo>
                    <a:close/>
                  </a:path>
                </a:pathLst>
              </a:custGeom>
              <a:blipFill>
                <a:blip r:embed="rId5"/>
                <a:stretch>
                  <a:fillRect l="0" t="-31541" r="-368" b="-31541"/>
                </a:stretch>
              </a:blipFill>
            </p:spPr>
          </p:sp>
        </p:grpSp>
        <p:sp>
          <p:nvSpPr>
            <p:cNvPr name="TextBox 10" id="10"/>
            <p:cNvSpPr txBox="true"/>
            <p:nvPr/>
          </p:nvSpPr>
          <p:spPr>
            <a:xfrm rot="0">
              <a:off x="381000" y="2644220"/>
              <a:ext cx="19926300" cy="1127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POST /messages/:conversationId/messages</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Messages</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7" y="4273706"/>
            <a:ext cx="15516225" cy="3068326"/>
            <a:chOff x="0" y="0"/>
            <a:chExt cx="20688300" cy="4091101"/>
          </a:xfrm>
        </p:grpSpPr>
        <p:sp>
          <p:nvSpPr>
            <p:cNvPr name="TextBox 7" id="7"/>
            <p:cNvSpPr txBox="true"/>
            <p:nvPr/>
          </p:nvSpPr>
          <p:spPr>
            <a:xfrm rot="0">
              <a:off x="0" y="-142875"/>
              <a:ext cx="20688300" cy="21393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Digunakan untuk create default profile jika belum ada atau mereturn profile freelancer milik user yang login. createOrGetMyProfile memanggil freelancerProfi</a:t>
              </a:r>
              <a:r>
                <a:rPr lang="en-US" sz="2475">
                  <a:solidFill>
                    <a:srgbClr val="64748B"/>
                  </a:solidFill>
                  <a:latin typeface="Quicksand"/>
                  <a:ea typeface="Quicksand"/>
                  <a:cs typeface="Quicksand"/>
                  <a:sym typeface="Quicksand"/>
                </a:rPr>
                <a:t>leService. Dipakai saat user membuka page profil sendiri (atau bagian profile pada shared.tsx)</a:t>
              </a:r>
            </a:p>
          </p:txBody>
        </p:sp>
        <p:grpSp>
          <p:nvGrpSpPr>
            <p:cNvPr name="Group 8" id="8"/>
            <p:cNvGrpSpPr/>
            <p:nvPr/>
          </p:nvGrpSpPr>
          <p:grpSpPr>
            <a:xfrm rot="0">
              <a:off x="0" y="2362280"/>
              <a:ext cx="20688300" cy="1728821"/>
              <a:chOff x="0" y="0"/>
              <a:chExt cx="20688300" cy="1728821"/>
            </a:xfrm>
          </p:grpSpPr>
          <p:sp>
            <p:nvSpPr>
              <p:cNvPr name="Freeform 9" id="9" descr="image.png"/>
              <p:cNvSpPr/>
              <p:nvPr/>
            </p:nvSpPr>
            <p:spPr>
              <a:xfrm flipH="false" flipV="false" rot="0">
                <a:off x="0" y="0"/>
                <a:ext cx="20688300" cy="1728821"/>
              </a:xfrm>
              <a:custGeom>
                <a:avLst/>
                <a:gdLst/>
                <a:ahLst/>
                <a:cxnLst/>
                <a:rect r="r" b="b" t="t" l="l"/>
                <a:pathLst>
                  <a:path h="1728821" w="20688300">
                    <a:moveTo>
                      <a:pt x="0" y="0"/>
                    </a:moveTo>
                    <a:lnTo>
                      <a:pt x="20688300" y="0"/>
                    </a:lnTo>
                    <a:lnTo>
                      <a:pt x="20688300" y="1728821"/>
                    </a:lnTo>
                    <a:lnTo>
                      <a:pt x="0" y="1728821"/>
                    </a:lnTo>
                    <a:lnTo>
                      <a:pt x="0" y="0"/>
                    </a:lnTo>
                    <a:close/>
                  </a:path>
                </a:pathLst>
              </a:custGeom>
              <a:blipFill>
                <a:blip r:embed="rId5"/>
                <a:stretch>
                  <a:fillRect l="0" t="-31541" r="-368" b="-31541"/>
                </a:stretch>
              </a:blipFill>
            </p:spPr>
          </p:sp>
        </p:grpSp>
        <p:sp>
          <p:nvSpPr>
            <p:cNvPr name="TextBox 10" id="10"/>
            <p:cNvSpPr txBox="true"/>
            <p:nvPr/>
          </p:nvSpPr>
          <p:spPr>
            <a:xfrm rot="0">
              <a:off x="381000" y="2644220"/>
              <a:ext cx="19926300" cy="1127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GET /freelancer-profile/me (auth)</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Freelancer Profile</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800225" y="3544428"/>
            <a:ext cx="15516225" cy="4526882"/>
            <a:chOff x="0" y="0"/>
            <a:chExt cx="20688300" cy="6035843"/>
          </a:xfrm>
        </p:grpSpPr>
        <p:sp>
          <p:nvSpPr>
            <p:cNvPr name="TextBox 7" id="7"/>
            <p:cNvSpPr txBox="true"/>
            <p:nvPr/>
          </p:nvSpPr>
          <p:spPr>
            <a:xfrm rot="0">
              <a:off x="0" y="-142875"/>
              <a:ext cx="20688300" cy="28886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Digunakan untuk mengupdate profil freelancer (bio, skills, avatar Cloudinary). updateMyProfile melakukan upload opsional lalu update DB via s</a:t>
              </a:r>
              <a:r>
                <a:rPr lang="en-US" sz="2475">
                  <a:solidFill>
                    <a:srgbClr val="64748B"/>
                  </a:solidFill>
                  <a:latin typeface="Quicksand"/>
                  <a:ea typeface="Quicksand"/>
                  <a:cs typeface="Quicksand"/>
                  <a:sym typeface="Quicksand"/>
                </a:rPr>
                <a:t>ervice. Dipanggil dari page edit profile yang ada di frontend. Terdapat juga route untuk mengambil semua profil freelancer, dan mengambil detail profil freelancer tertentu berdasarkan id profile.</a:t>
              </a:r>
            </a:p>
          </p:txBody>
        </p:sp>
        <p:grpSp>
          <p:nvGrpSpPr>
            <p:cNvPr name="Group 8" id="8"/>
            <p:cNvGrpSpPr/>
            <p:nvPr/>
          </p:nvGrpSpPr>
          <p:grpSpPr>
            <a:xfrm rot="0">
              <a:off x="0" y="3111580"/>
              <a:ext cx="20688300" cy="2924263"/>
              <a:chOff x="0" y="0"/>
              <a:chExt cx="20688300" cy="2924263"/>
            </a:xfrm>
          </p:grpSpPr>
          <p:sp>
            <p:nvSpPr>
              <p:cNvPr name="Freeform 9" id="9" descr="image.png"/>
              <p:cNvSpPr/>
              <p:nvPr/>
            </p:nvSpPr>
            <p:spPr>
              <a:xfrm flipH="false" flipV="false" rot="0">
                <a:off x="0" y="0"/>
                <a:ext cx="20688300" cy="2924263"/>
              </a:xfrm>
              <a:custGeom>
                <a:avLst/>
                <a:gdLst/>
                <a:ahLst/>
                <a:cxnLst/>
                <a:rect r="r" b="b" t="t" l="l"/>
                <a:pathLst>
                  <a:path h="2924263" w="20688300">
                    <a:moveTo>
                      <a:pt x="0" y="0"/>
                    </a:moveTo>
                    <a:lnTo>
                      <a:pt x="20688300" y="0"/>
                    </a:lnTo>
                    <a:lnTo>
                      <a:pt x="20688300" y="2924263"/>
                    </a:lnTo>
                    <a:lnTo>
                      <a:pt x="0" y="2924263"/>
                    </a:lnTo>
                    <a:lnTo>
                      <a:pt x="0" y="0"/>
                    </a:lnTo>
                    <a:close/>
                  </a:path>
                </a:pathLst>
              </a:custGeom>
              <a:blipFill>
                <a:blip r:embed="rId5"/>
                <a:stretch>
                  <a:fillRect l="-1859" t="0" r="-2241" b="0"/>
                </a:stretch>
              </a:blipFill>
            </p:spPr>
          </p:sp>
        </p:grpSp>
        <p:sp>
          <p:nvSpPr>
            <p:cNvPr name="TextBox 10" id="10"/>
            <p:cNvSpPr txBox="true"/>
            <p:nvPr/>
          </p:nvSpPr>
          <p:spPr>
            <a:xfrm rot="0">
              <a:off x="381000" y="3393520"/>
              <a:ext cx="19926300" cy="23469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PUT /freelancer-profile/me</a:t>
              </a:r>
            </a:p>
            <a:p>
              <a:pPr algn="l">
                <a:lnSpc>
                  <a:spcPts val="3645"/>
                </a:lnSpc>
              </a:pPr>
              <a:r>
                <a:rPr lang="en-US" b="true" sz="2025">
                  <a:solidFill>
                    <a:srgbClr val="1E293B"/>
                  </a:solidFill>
                  <a:latin typeface="Quicksand Bold"/>
                  <a:ea typeface="Quicksand Bold"/>
                  <a:cs typeface="Quicksand Bold"/>
                  <a:sym typeface="Quicksand Bold"/>
                </a:rPr>
                <a:t>GET /freelancer-profile/all</a:t>
              </a:r>
            </a:p>
            <a:p>
              <a:pPr algn="l">
                <a:lnSpc>
                  <a:spcPts val="3645"/>
                </a:lnSpc>
              </a:pPr>
              <a:r>
                <a:rPr lang="en-US" b="true" sz="2025">
                  <a:solidFill>
                    <a:srgbClr val="1E293B"/>
                  </a:solidFill>
                  <a:latin typeface="Quicksand Bold"/>
                  <a:ea typeface="Quicksand Bold"/>
                  <a:cs typeface="Quicksand Bold"/>
                  <a:sym typeface="Quicksand Bold"/>
                </a:rPr>
                <a:t>GET /freelancer-profile/:profileId</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Freelancer Profile</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7" y="3082551"/>
            <a:ext cx="15516225" cy="5450636"/>
            <a:chOff x="0" y="0"/>
            <a:chExt cx="20688300" cy="7267515"/>
          </a:xfrm>
        </p:grpSpPr>
        <p:sp>
          <p:nvSpPr>
            <p:cNvPr name="TextBox 7" id="7"/>
            <p:cNvSpPr txBox="true"/>
            <p:nvPr/>
          </p:nvSpPr>
          <p:spPr>
            <a:xfrm rot="0">
              <a:off x="0" y="-142875"/>
              <a:ext cx="20688300" cy="36379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Merupakan list endpoint yang digunakan untuk menyimpan/menanggalkan pekerjaan dan memeriksa status saved, lalu insert/delete/select pada tabel saved_jobs. Controller savedJobController dan savedJobService menyediakan fitur sav</a:t>
              </a:r>
              <a:r>
                <a:rPr lang="en-US" sz="2475">
                  <a:solidFill>
                    <a:srgbClr val="64748B"/>
                  </a:solidFill>
                  <a:latin typeface="Quicksand"/>
                  <a:ea typeface="Quicksand"/>
                  <a:cs typeface="Quicksand"/>
                  <a:sym typeface="Quicksand"/>
                </a:rPr>
                <a:t>e/unsave/check/list. Digunakan di listing job dan button bookmark pada shared.tsx dan halaman saved jobs. Terdapat juga route untuk menghapus job dari list saved freelancer, dan mengecek apakah project tertentu sudah saved.</a:t>
              </a:r>
            </a:p>
          </p:txBody>
        </p:sp>
        <p:grpSp>
          <p:nvGrpSpPr>
            <p:cNvPr name="Group 8" id="8"/>
            <p:cNvGrpSpPr/>
            <p:nvPr/>
          </p:nvGrpSpPr>
          <p:grpSpPr>
            <a:xfrm rot="0">
              <a:off x="0" y="3860880"/>
              <a:ext cx="20688300" cy="3406635"/>
              <a:chOff x="0" y="0"/>
              <a:chExt cx="20688300" cy="3406635"/>
            </a:xfrm>
          </p:grpSpPr>
          <p:sp>
            <p:nvSpPr>
              <p:cNvPr name="Freeform 9" id="9" descr="image.png"/>
              <p:cNvSpPr/>
              <p:nvPr/>
            </p:nvSpPr>
            <p:spPr>
              <a:xfrm flipH="false" flipV="false" rot="0">
                <a:off x="0" y="0"/>
                <a:ext cx="20688300" cy="3406635"/>
              </a:xfrm>
              <a:custGeom>
                <a:avLst/>
                <a:gdLst/>
                <a:ahLst/>
                <a:cxnLst/>
                <a:rect r="r" b="b" t="t" l="l"/>
                <a:pathLst>
                  <a:path h="3406635" w="20688300">
                    <a:moveTo>
                      <a:pt x="0" y="0"/>
                    </a:moveTo>
                    <a:lnTo>
                      <a:pt x="20688300" y="0"/>
                    </a:lnTo>
                    <a:lnTo>
                      <a:pt x="20688300" y="3406635"/>
                    </a:lnTo>
                    <a:lnTo>
                      <a:pt x="0" y="3406635"/>
                    </a:lnTo>
                    <a:lnTo>
                      <a:pt x="0" y="0"/>
                    </a:lnTo>
                    <a:close/>
                  </a:path>
                </a:pathLst>
              </a:custGeom>
              <a:blipFill>
                <a:blip r:embed="rId5"/>
                <a:stretch>
                  <a:fillRect l="-10414" t="0" r="-10859" b="0"/>
                </a:stretch>
              </a:blipFill>
            </p:spPr>
          </p:sp>
        </p:grpSp>
        <p:sp>
          <p:nvSpPr>
            <p:cNvPr name="TextBox 10" id="10"/>
            <p:cNvSpPr txBox="true"/>
            <p:nvPr/>
          </p:nvSpPr>
          <p:spPr>
            <a:xfrm rot="0">
              <a:off x="381000" y="4142820"/>
              <a:ext cx="19926300" cy="29565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POST /saved-jobs, POST /saved-jobs/unsave </a:t>
              </a:r>
            </a:p>
            <a:p>
              <a:pPr algn="l">
                <a:lnSpc>
                  <a:spcPts val="3645"/>
                </a:lnSpc>
              </a:pPr>
              <a:r>
                <a:rPr lang="en-US" b="true" sz="2025">
                  <a:solidFill>
                    <a:srgbClr val="1E293B"/>
                  </a:solidFill>
                  <a:latin typeface="Quicksand Bold"/>
                  <a:ea typeface="Quicksand Bold"/>
                  <a:cs typeface="Quicksand Bold"/>
                  <a:sym typeface="Quicksand Bold"/>
                </a:rPr>
                <a:t>GET /saved-jobs, GET /saved-jobs/check/:projectId</a:t>
              </a:r>
            </a:p>
            <a:p>
              <a:pPr algn="l">
                <a:lnSpc>
                  <a:spcPts val="3645"/>
                </a:lnSpc>
              </a:pPr>
              <a:r>
                <a:rPr lang="en-US" b="true" sz="2025">
                  <a:solidFill>
                    <a:srgbClr val="1E293B"/>
                  </a:solidFill>
                  <a:latin typeface="Quicksand Bold"/>
                  <a:ea typeface="Quicksand Bold"/>
                  <a:cs typeface="Quicksand Bold"/>
                  <a:sym typeface="Quicksand Bold"/>
                </a:rPr>
                <a:t>POST /saved-jobs/unsave</a:t>
              </a:r>
            </a:p>
            <a:p>
              <a:pPr algn="l">
                <a:lnSpc>
                  <a:spcPts val="3645"/>
                </a:lnSpc>
              </a:pPr>
              <a:r>
                <a:rPr lang="en-US" b="true" sz="2025">
                  <a:solidFill>
                    <a:srgbClr val="1E293B"/>
                  </a:solidFill>
                  <a:latin typeface="Quicksand Bold"/>
                  <a:ea typeface="Quicksand Bold"/>
                  <a:cs typeface="Quicksand Bold"/>
                  <a:sym typeface="Quicksand Bold"/>
                </a:rPr>
                <a:t>GET /saved-jobs/check/:projectId</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Saved Jobs</a:t>
              </a:r>
            </a:p>
          </p:txBody>
        </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8" y="2636014"/>
            <a:ext cx="15516225" cy="5969709"/>
            <a:chOff x="0" y="0"/>
            <a:chExt cx="20688300" cy="7959613"/>
          </a:xfrm>
        </p:grpSpPr>
        <p:sp>
          <p:nvSpPr>
            <p:cNvPr name="TextBox 7" id="7"/>
            <p:cNvSpPr txBox="true"/>
            <p:nvPr/>
          </p:nvSpPr>
          <p:spPr>
            <a:xfrm rot="0">
              <a:off x="0" y="-142875"/>
              <a:ext cx="20688300" cy="36379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Endpoint yang digunakan untuk melakukan manajemen bids dari membuat bid, memeriksa apakah freelancer sudah apply, mengambil semua bids untuk sebuah project, update/reject/delete bid, dan ambil bid tertentu. Backend bidController/bidService menangani validasi misalnya hanya project yang punya status open</a:t>
              </a:r>
              <a:r>
                <a:rPr lang="en-US" sz="2475">
                  <a:solidFill>
                    <a:srgbClr val="64748B"/>
                  </a:solidFill>
                  <a:latin typeface="Quicksand"/>
                  <a:ea typeface="Quicksand"/>
                  <a:cs typeface="Quicksand"/>
                  <a:sym typeface="Quicksand"/>
                </a:rPr>
                <a:t> dan operasi pada tabel bids. Digunakan oleh UI apply/bid pada job detail dan check tombol “Apply”/status di shared.tsx, my-jobs.tsx, dan page job detail.</a:t>
              </a:r>
            </a:p>
          </p:txBody>
        </p:sp>
        <p:grpSp>
          <p:nvGrpSpPr>
            <p:cNvPr name="Group 8" id="8"/>
            <p:cNvGrpSpPr/>
            <p:nvPr/>
          </p:nvGrpSpPr>
          <p:grpSpPr>
            <a:xfrm rot="0">
              <a:off x="0" y="3860880"/>
              <a:ext cx="20688300" cy="4098733"/>
              <a:chOff x="0" y="0"/>
              <a:chExt cx="20688300" cy="4098733"/>
            </a:xfrm>
          </p:grpSpPr>
          <p:sp>
            <p:nvSpPr>
              <p:cNvPr name="Freeform 9" id="9" descr="image.png"/>
              <p:cNvSpPr/>
              <p:nvPr/>
            </p:nvSpPr>
            <p:spPr>
              <a:xfrm flipH="false" flipV="false" rot="0">
                <a:off x="0" y="0"/>
                <a:ext cx="20688300" cy="4098732"/>
              </a:xfrm>
              <a:custGeom>
                <a:avLst/>
                <a:gdLst/>
                <a:ahLst/>
                <a:cxnLst/>
                <a:rect r="r" b="b" t="t" l="l"/>
                <a:pathLst>
                  <a:path h="4098732" w="20688300">
                    <a:moveTo>
                      <a:pt x="0" y="0"/>
                    </a:moveTo>
                    <a:lnTo>
                      <a:pt x="20688300" y="0"/>
                    </a:lnTo>
                    <a:lnTo>
                      <a:pt x="20688300" y="4098732"/>
                    </a:lnTo>
                    <a:lnTo>
                      <a:pt x="0" y="4098732"/>
                    </a:lnTo>
                    <a:lnTo>
                      <a:pt x="0" y="0"/>
                    </a:lnTo>
                    <a:close/>
                  </a:path>
                </a:pathLst>
              </a:custGeom>
              <a:blipFill>
                <a:blip r:embed="rId5"/>
                <a:stretch>
                  <a:fillRect l="-22688" t="0" r="-23223" b="0"/>
                </a:stretch>
              </a:blipFill>
            </p:spPr>
          </p:sp>
        </p:grpSp>
        <p:sp>
          <p:nvSpPr>
            <p:cNvPr name="TextBox 10" id="10"/>
            <p:cNvSpPr txBox="true"/>
            <p:nvPr/>
          </p:nvSpPr>
          <p:spPr>
            <a:xfrm rot="0">
              <a:off x="381000" y="4142820"/>
              <a:ext cx="19926300" cy="35661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POST /bids, </a:t>
              </a:r>
            </a:p>
            <a:p>
              <a:pPr algn="l">
                <a:lnSpc>
                  <a:spcPts val="3645"/>
                </a:lnSpc>
              </a:pPr>
              <a:r>
                <a:rPr lang="en-US" b="true" sz="2025">
                  <a:solidFill>
                    <a:srgbClr val="1E293B"/>
                  </a:solidFill>
                  <a:latin typeface="Quicksand Bold"/>
                  <a:ea typeface="Quicksand Bold"/>
                  <a:cs typeface="Quicksand Bold"/>
                  <a:sym typeface="Quicksand Bold"/>
                </a:rPr>
                <a:t>GET /bids/check/:projectId, </a:t>
              </a:r>
            </a:p>
            <a:p>
              <a:pPr algn="l">
                <a:lnSpc>
                  <a:spcPts val="3645"/>
                </a:lnSpc>
              </a:pPr>
              <a:r>
                <a:rPr lang="en-US" b="true" sz="2025">
                  <a:solidFill>
                    <a:srgbClr val="1E293B"/>
                  </a:solidFill>
                  <a:latin typeface="Quicksand Bold"/>
                  <a:ea typeface="Quicksand Bold"/>
                  <a:cs typeface="Quicksand Bold"/>
                  <a:sym typeface="Quicksand Bold"/>
                </a:rPr>
                <a:t>GET /bids/project/:projectId, </a:t>
              </a:r>
            </a:p>
            <a:p>
              <a:pPr algn="l">
                <a:lnSpc>
                  <a:spcPts val="3645"/>
                </a:lnSpc>
              </a:pPr>
              <a:r>
                <a:rPr lang="en-US" b="true" sz="2025">
                  <a:solidFill>
                    <a:srgbClr val="1E293B"/>
                  </a:solidFill>
                  <a:latin typeface="Quicksand Bold"/>
                  <a:ea typeface="Quicksand Bold"/>
                  <a:cs typeface="Quicksand Bold"/>
                  <a:sym typeface="Quicksand Bold"/>
                </a:rPr>
                <a:t>GET /bids/:bidId, </a:t>
              </a:r>
            </a:p>
            <a:p>
              <a:pPr algn="l">
                <a:lnSpc>
                  <a:spcPts val="3645"/>
                </a:lnSpc>
              </a:pPr>
              <a:r>
                <a:rPr lang="en-US" b="true" sz="2025">
                  <a:solidFill>
                    <a:srgbClr val="1E293B"/>
                  </a:solidFill>
                  <a:latin typeface="Quicksand Bold"/>
                  <a:ea typeface="Quicksand Bold"/>
                  <a:cs typeface="Quicksand Bold"/>
                  <a:sym typeface="Quicksand Bold"/>
                </a:rPr>
                <a:t>PUT/DELETE /bids/:bidId</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Bids</a:t>
              </a:r>
            </a:p>
          </p:txBody>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8"/>
            <a:ext cx="16573500" cy="7243762"/>
            <a:chOff x="0" y="0"/>
            <a:chExt cx="22098000" cy="9658350"/>
          </a:xfrm>
        </p:grpSpPr>
        <p:sp>
          <p:nvSpPr>
            <p:cNvPr name="Freeform 5" id="5" descr="image.png"/>
            <p:cNvSpPr/>
            <p:nvPr/>
          </p:nvSpPr>
          <p:spPr>
            <a:xfrm flipH="false" flipV="false" rot="0">
              <a:off x="0" y="0"/>
              <a:ext cx="22098000" cy="9658350"/>
            </a:xfrm>
            <a:custGeom>
              <a:avLst/>
              <a:gdLst/>
              <a:ahLst/>
              <a:cxnLst/>
              <a:rect r="r" b="b" t="t" l="l"/>
              <a:pathLst>
                <a:path h="9658350" w="22098000">
                  <a:moveTo>
                    <a:pt x="0" y="0"/>
                  </a:moveTo>
                  <a:lnTo>
                    <a:pt x="22098000" y="0"/>
                  </a:lnTo>
                  <a:lnTo>
                    <a:pt x="22098000" y="9658350"/>
                  </a:lnTo>
                  <a:lnTo>
                    <a:pt x="0" y="9658350"/>
                  </a:lnTo>
                  <a:lnTo>
                    <a:pt x="0" y="0"/>
                  </a:lnTo>
                  <a:close/>
                </a:path>
              </a:pathLst>
            </a:custGeom>
            <a:blipFill>
              <a:blip r:embed="rId4"/>
              <a:stretch>
                <a:fillRect l="0" t="0" r="0" b="0"/>
              </a:stretch>
            </a:blipFill>
          </p:spPr>
        </p:sp>
      </p:grpSp>
      <p:grpSp>
        <p:nvGrpSpPr>
          <p:cNvPr name="Group 6" id="6"/>
          <p:cNvGrpSpPr/>
          <p:nvPr/>
        </p:nvGrpSpPr>
        <p:grpSpPr>
          <a:xfrm rot="0">
            <a:off x="1385888" y="3078264"/>
            <a:ext cx="15516225" cy="5459210"/>
            <a:chOff x="0" y="0"/>
            <a:chExt cx="20688300" cy="7278946"/>
          </a:xfrm>
        </p:grpSpPr>
        <p:sp>
          <p:nvSpPr>
            <p:cNvPr name="TextBox 7" id="7"/>
            <p:cNvSpPr txBox="true"/>
            <p:nvPr/>
          </p:nvSpPr>
          <p:spPr>
            <a:xfrm rot="0">
              <a:off x="0" y="-142875"/>
              <a:ext cx="20688300" cy="21393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Masing-masing route tersebut digunakan untuk mengecek apakah freelancer sudah pernah apply/bid ke project itu. Mengambil semua bid untuk satu project. Mengambil detail satu bid tertentu. Menolak bid dari sisi client pemilik project. Memperbarui isi bid yang sudah dibuat, dan menghapus bid milik freelancer.</a:t>
              </a:r>
            </a:p>
          </p:txBody>
        </p:sp>
        <p:grpSp>
          <p:nvGrpSpPr>
            <p:cNvPr name="Group 8" id="8"/>
            <p:cNvGrpSpPr/>
            <p:nvPr/>
          </p:nvGrpSpPr>
          <p:grpSpPr>
            <a:xfrm rot="0">
              <a:off x="0" y="2362280"/>
              <a:ext cx="20688300" cy="4916666"/>
              <a:chOff x="0" y="0"/>
              <a:chExt cx="20688300" cy="4916666"/>
            </a:xfrm>
          </p:grpSpPr>
          <p:sp>
            <p:nvSpPr>
              <p:cNvPr name="Freeform 9" id="9" descr="image.png"/>
              <p:cNvSpPr/>
              <p:nvPr/>
            </p:nvSpPr>
            <p:spPr>
              <a:xfrm flipH="false" flipV="false" rot="0">
                <a:off x="0" y="0"/>
                <a:ext cx="20688300" cy="4916667"/>
              </a:xfrm>
              <a:custGeom>
                <a:avLst/>
                <a:gdLst/>
                <a:ahLst/>
                <a:cxnLst/>
                <a:rect r="r" b="b" t="t" l="l"/>
                <a:pathLst>
                  <a:path h="4916667" w="20688300">
                    <a:moveTo>
                      <a:pt x="0" y="0"/>
                    </a:moveTo>
                    <a:lnTo>
                      <a:pt x="20688300" y="0"/>
                    </a:lnTo>
                    <a:lnTo>
                      <a:pt x="20688300" y="4916667"/>
                    </a:lnTo>
                    <a:lnTo>
                      <a:pt x="0" y="4916667"/>
                    </a:lnTo>
                    <a:lnTo>
                      <a:pt x="0" y="0"/>
                    </a:lnTo>
                    <a:close/>
                  </a:path>
                </a:pathLst>
              </a:custGeom>
              <a:blipFill>
                <a:blip r:embed="rId5"/>
                <a:stretch>
                  <a:fillRect l="-37193" t="0" r="-37835" b="0"/>
                </a:stretch>
              </a:blipFill>
            </p:spPr>
          </p:sp>
        </p:grpSp>
        <p:sp>
          <p:nvSpPr>
            <p:cNvPr name="TextBox 10" id="10"/>
            <p:cNvSpPr txBox="true"/>
            <p:nvPr/>
          </p:nvSpPr>
          <p:spPr>
            <a:xfrm rot="0">
              <a:off x="381000" y="2644220"/>
              <a:ext cx="19926300" cy="4175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GET /bids/check/:projectId</a:t>
              </a:r>
            </a:p>
            <a:p>
              <a:pPr algn="l">
                <a:lnSpc>
                  <a:spcPts val="3645"/>
                </a:lnSpc>
              </a:pPr>
              <a:r>
                <a:rPr lang="en-US" b="true" sz="2025">
                  <a:solidFill>
                    <a:srgbClr val="1E293B"/>
                  </a:solidFill>
                  <a:latin typeface="Quicksand Bold"/>
                  <a:ea typeface="Quicksand Bold"/>
                  <a:cs typeface="Quicksand Bold"/>
                  <a:sym typeface="Quicksand Bold"/>
                </a:rPr>
                <a:t>GET /bids/project/:projectId </a:t>
              </a:r>
            </a:p>
            <a:p>
              <a:pPr algn="l">
                <a:lnSpc>
                  <a:spcPts val="3645"/>
                </a:lnSpc>
              </a:pPr>
              <a:r>
                <a:rPr lang="en-US" b="true" sz="2025">
                  <a:solidFill>
                    <a:srgbClr val="1E293B"/>
                  </a:solidFill>
                  <a:latin typeface="Quicksand Bold"/>
                  <a:ea typeface="Quicksand Bold"/>
                  <a:cs typeface="Quicksand Bold"/>
                  <a:sym typeface="Quicksand Bold"/>
                </a:rPr>
                <a:t>GET /bids/:bidId </a:t>
              </a:r>
            </a:p>
            <a:p>
              <a:pPr algn="l">
                <a:lnSpc>
                  <a:spcPts val="3645"/>
                </a:lnSpc>
              </a:pPr>
              <a:r>
                <a:rPr lang="en-US" b="true" sz="2025">
                  <a:solidFill>
                    <a:srgbClr val="1E293B"/>
                  </a:solidFill>
                  <a:latin typeface="Quicksand Bold"/>
                  <a:ea typeface="Quicksand Bold"/>
                  <a:cs typeface="Quicksand Bold"/>
                  <a:sym typeface="Quicksand Bold"/>
                </a:rPr>
                <a:t>PUT /bids/:bidId/reject</a:t>
              </a:r>
            </a:p>
            <a:p>
              <a:pPr algn="l">
                <a:lnSpc>
                  <a:spcPts val="3645"/>
                </a:lnSpc>
              </a:pPr>
              <a:r>
                <a:rPr lang="en-US" b="true" sz="2025">
                  <a:solidFill>
                    <a:srgbClr val="1E293B"/>
                  </a:solidFill>
                  <a:latin typeface="Quicksand Bold"/>
                  <a:ea typeface="Quicksand Bold"/>
                  <a:cs typeface="Quicksand Bold"/>
                  <a:sym typeface="Quicksand Bold"/>
                </a:rPr>
                <a:t>PUT /bids/:bidId </a:t>
              </a:r>
            </a:p>
            <a:p>
              <a:pPr algn="l">
                <a:lnSpc>
                  <a:spcPts val="3645"/>
                </a:lnSpc>
              </a:pPr>
              <a:r>
                <a:rPr lang="en-US" b="true" sz="2025">
                  <a:solidFill>
                    <a:srgbClr val="1E293B"/>
                  </a:solidFill>
                  <a:latin typeface="Quicksand Bold"/>
                  <a:ea typeface="Quicksand Bold"/>
                  <a:cs typeface="Quicksand Bold"/>
                  <a:sym typeface="Quicksand Bold"/>
                </a:rPr>
                <a:t>DELETE /bids/:bidId</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Bids</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2185987"/>
            <a:ext cx="16573500" cy="7668459"/>
            <a:chOff x="0" y="0"/>
            <a:chExt cx="22098000" cy="10224612"/>
          </a:xfrm>
        </p:grpSpPr>
        <p:sp>
          <p:nvSpPr>
            <p:cNvPr name="Freeform 5" id="5" descr="image.png"/>
            <p:cNvSpPr/>
            <p:nvPr/>
          </p:nvSpPr>
          <p:spPr>
            <a:xfrm flipH="false" flipV="false" rot="0">
              <a:off x="0" y="0"/>
              <a:ext cx="22098000" cy="10224612"/>
            </a:xfrm>
            <a:custGeom>
              <a:avLst/>
              <a:gdLst/>
              <a:ahLst/>
              <a:cxnLst/>
              <a:rect r="r" b="b" t="t" l="l"/>
              <a:pathLst>
                <a:path h="10224612" w="22098000">
                  <a:moveTo>
                    <a:pt x="0" y="0"/>
                  </a:moveTo>
                  <a:lnTo>
                    <a:pt x="22098000" y="0"/>
                  </a:lnTo>
                  <a:lnTo>
                    <a:pt x="22098000" y="10224612"/>
                  </a:lnTo>
                  <a:lnTo>
                    <a:pt x="0" y="10224612"/>
                  </a:lnTo>
                  <a:lnTo>
                    <a:pt x="0" y="0"/>
                  </a:lnTo>
                  <a:close/>
                </a:path>
              </a:pathLst>
            </a:custGeom>
            <a:blipFill>
              <a:blip r:embed="rId4"/>
              <a:stretch>
                <a:fillRect l="-2931" t="0" r="-2931" b="0"/>
              </a:stretch>
            </a:blipFill>
          </p:spPr>
        </p:sp>
      </p:grpSp>
      <p:grpSp>
        <p:nvGrpSpPr>
          <p:cNvPr name="Group 6" id="6"/>
          <p:cNvGrpSpPr/>
          <p:nvPr/>
        </p:nvGrpSpPr>
        <p:grpSpPr>
          <a:xfrm rot="0">
            <a:off x="1385888" y="3078264"/>
            <a:ext cx="15516225" cy="6394406"/>
            <a:chOff x="0" y="0"/>
            <a:chExt cx="20688300" cy="8525874"/>
          </a:xfrm>
        </p:grpSpPr>
        <p:sp>
          <p:nvSpPr>
            <p:cNvPr name="TextBox 7" id="7"/>
            <p:cNvSpPr txBox="true"/>
            <p:nvPr/>
          </p:nvSpPr>
          <p:spPr>
            <a:xfrm rot="0">
              <a:off x="0" y="-142875"/>
              <a:ext cx="20688300" cy="3637915"/>
            </a:xfrm>
            <a:prstGeom prst="rect">
              <a:avLst/>
            </a:prstGeom>
          </p:spPr>
          <p:txBody>
            <a:bodyPr anchor="t" rtlCol="false" tIns="0" lIns="0" bIns="0" rIns="0">
              <a:spAutoFit/>
            </a:bodyPr>
            <a:lstStyle/>
            <a:p>
              <a:pPr algn="l">
                <a:lnSpc>
                  <a:spcPts val="4455"/>
                </a:lnSpc>
              </a:pPr>
              <a:r>
                <a:rPr lang="en-US" sz="2475">
                  <a:solidFill>
                    <a:srgbClr val="64748B"/>
                  </a:solidFill>
                  <a:latin typeface="Quicksand"/>
                  <a:ea typeface="Quicksand"/>
                  <a:cs typeface="Quicksand"/>
                  <a:sym typeface="Quicksand"/>
                </a:rPr>
                <a:t>Mengambil semua data contract milik user yang sedang login. Mengambil detail satu contract tertentu berdasarkan ID contract. Membuat kontrak baru, dimana setelah bid disetujui atau saat proyek mulai dikerjakan. Memperbarui data kontrak, misalnya status kontrak atau informasi terkait pekerjaan. Menandai kontrak sebagai selesai setelah pekerjaan dinyatakan selesai. Mengonfirmasi pembayaran pada kontrak, biasanya setelah proses pembayaran berhasil atau diverifikasi.</a:t>
              </a:r>
            </a:p>
          </p:txBody>
        </p:sp>
        <p:grpSp>
          <p:nvGrpSpPr>
            <p:cNvPr name="Group 8" id="8"/>
            <p:cNvGrpSpPr/>
            <p:nvPr/>
          </p:nvGrpSpPr>
          <p:grpSpPr>
            <a:xfrm rot="0">
              <a:off x="0" y="3860880"/>
              <a:ext cx="20688300" cy="4664995"/>
              <a:chOff x="0" y="0"/>
              <a:chExt cx="20688300" cy="4664995"/>
            </a:xfrm>
          </p:grpSpPr>
          <p:sp>
            <p:nvSpPr>
              <p:cNvPr name="Freeform 9" id="9" descr="image.png"/>
              <p:cNvSpPr/>
              <p:nvPr/>
            </p:nvSpPr>
            <p:spPr>
              <a:xfrm flipH="false" flipV="false" rot="0">
                <a:off x="0" y="0"/>
                <a:ext cx="20688300" cy="4664995"/>
              </a:xfrm>
              <a:custGeom>
                <a:avLst/>
                <a:gdLst/>
                <a:ahLst/>
                <a:cxnLst/>
                <a:rect r="r" b="b" t="t" l="l"/>
                <a:pathLst>
                  <a:path h="4664995" w="20688300">
                    <a:moveTo>
                      <a:pt x="0" y="0"/>
                    </a:moveTo>
                    <a:lnTo>
                      <a:pt x="20688300" y="0"/>
                    </a:lnTo>
                    <a:lnTo>
                      <a:pt x="20688300" y="4664995"/>
                    </a:lnTo>
                    <a:lnTo>
                      <a:pt x="0" y="4664995"/>
                    </a:lnTo>
                    <a:lnTo>
                      <a:pt x="0" y="0"/>
                    </a:lnTo>
                    <a:close/>
                  </a:path>
                </a:pathLst>
              </a:custGeom>
              <a:blipFill>
                <a:blip r:embed="rId5"/>
                <a:stretch>
                  <a:fillRect l="-32730" t="0" r="-33339" b="0"/>
                </a:stretch>
              </a:blipFill>
            </p:spPr>
          </p:sp>
        </p:grpSp>
        <p:sp>
          <p:nvSpPr>
            <p:cNvPr name="TextBox 10" id="10"/>
            <p:cNvSpPr txBox="true"/>
            <p:nvPr/>
          </p:nvSpPr>
          <p:spPr>
            <a:xfrm rot="0">
              <a:off x="381000" y="4142820"/>
              <a:ext cx="19926300" cy="4175760"/>
            </a:xfrm>
            <a:prstGeom prst="rect">
              <a:avLst/>
            </a:prstGeom>
          </p:spPr>
          <p:txBody>
            <a:bodyPr anchor="t" rtlCol="false" tIns="0" lIns="0" bIns="0" rIns="0">
              <a:spAutoFit/>
            </a:bodyPr>
            <a:lstStyle/>
            <a:p>
              <a:pPr algn="l">
                <a:lnSpc>
                  <a:spcPts val="3645"/>
                </a:lnSpc>
              </a:pPr>
              <a:r>
                <a:rPr lang="en-US" b="true" sz="2025">
                  <a:solidFill>
                    <a:srgbClr val="1E293B"/>
                  </a:solidFill>
                  <a:latin typeface="Quicksand Bold"/>
                  <a:ea typeface="Quicksand Bold"/>
                  <a:cs typeface="Quicksand Bold"/>
                  <a:sym typeface="Quicksand Bold"/>
                </a:rPr>
                <a:t>Routes:</a:t>
              </a:r>
            </a:p>
            <a:p>
              <a:pPr algn="l">
                <a:lnSpc>
                  <a:spcPts val="3645"/>
                </a:lnSpc>
              </a:pPr>
              <a:r>
                <a:rPr lang="en-US" b="true" sz="2025">
                  <a:solidFill>
                    <a:srgbClr val="1E293B"/>
                  </a:solidFill>
                  <a:latin typeface="Quicksand Bold"/>
                  <a:ea typeface="Quicksand Bold"/>
                  <a:cs typeface="Quicksand Bold"/>
                  <a:sym typeface="Quicksand Bold"/>
                </a:rPr>
                <a:t>GET /contracts</a:t>
              </a:r>
            </a:p>
            <a:p>
              <a:pPr algn="l">
                <a:lnSpc>
                  <a:spcPts val="3645"/>
                </a:lnSpc>
              </a:pPr>
              <a:r>
                <a:rPr lang="en-US" b="true" sz="2025">
                  <a:solidFill>
                    <a:srgbClr val="1E293B"/>
                  </a:solidFill>
                  <a:latin typeface="Quicksand Bold"/>
                  <a:ea typeface="Quicksand Bold"/>
                  <a:cs typeface="Quicksand Bold"/>
                  <a:sym typeface="Quicksand Bold"/>
                </a:rPr>
                <a:t>GET /contracts/:contractId </a:t>
              </a:r>
            </a:p>
            <a:p>
              <a:pPr algn="l">
                <a:lnSpc>
                  <a:spcPts val="3645"/>
                </a:lnSpc>
              </a:pPr>
              <a:r>
                <a:rPr lang="en-US" b="true" sz="2025">
                  <a:solidFill>
                    <a:srgbClr val="1E293B"/>
                  </a:solidFill>
                  <a:latin typeface="Quicksand Bold"/>
                  <a:ea typeface="Quicksand Bold"/>
                  <a:cs typeface="Quicksand Bold"/>
                  <a:sym typeface="Quicksand Bold"/>
                </a:rPr>
                <a:t>POST /contracts</a:t>
              </a:r>
            </a:p>
            <a:p>
              <a:pPr algn="l">
                <a:lnSpc>
                  <a:spcPts val="3645"/>
                </a:lnSpc>
              </a:pPr>
              <a:r>
                <a:rPr lang="en-US" b="true" sz="2025">
                  <a:solidFill>
                    <a:srgbClr val="1E293B"/>
                  </a:solidFill>
                  <a:latin typeface="Quicksand Bold"/>
                  <a:ea typeface="Quicksand Bold"/>
                  <a:cs typeface="Quicksand Bold"/>
                  <a:sym typeface="Quicksand Bold"/>
                </a:rPr>
                <a:t>PUT /contracts/:contractId</a:t>
              </a:r>
            </a:p>
            <a:p>
              <a:pPr algn="l">
                <a:lnSpc>
                  <a:spcPts val="3645"/>
                </a:lnSpc>
              </a:pPr>
              <a:r>
                <a:rPr lang="en-US" b="true" sz="2025">
                  <a:solidFill>
                    <a:srgbClr val="1E293B"/>
                  </a:solidFill>
                  <a:latin typeface="Quicksand Bold"/>
                  <a:ea typeface="Quicksand Bold"/>
                  <a:cs typeface="Quicksand Bold"/>
                  <a:sym typeface="Quicksand Bold"/>
                </a:rPr>
                <a:t>PUT /contracts/:contractId/complete</a:t>
              </a:r>
            </a:p>
            <a:p>
              <a:pPr algn="l">
                <a:lnSpc>
                  <a:spcPts val="3645"/>
                </a:lnSpc>
              </a:pPr>
              <a:r>
                <a:rPr lang="en-US" b="true" sz="2025">
                  <a:solidFill>
                    <a:srgbClr val="1E293B"/>
                  </a:solidFill>
                  <a:latin typeface="Quicksand Bold"/>
                  <a:ea typeface="Quicksand Bold"/>
                  <a:cs typeface="Quicksand Bold"/>
                  <a:sym typeface="Quicksand Bold"/>
                </a:rPr>
                <a:t>PUT /contracts/:contractId/confirm-payment</a:t>
              </a:r>
            </a:p>
          </p:txBody>
        </p:sp>
      </p:grpSp>
      <p:grpSp>
        <p:nvGrpSpPr>
          <p:cNvPr name="Group 11" id="11"/>
          <p:cNvGrpSpPr/>
          <p:nvPr/>
        </p:nvGrpSpPr>
        <p:grpSpPr>
          <a:xfrm rot="0">
            <a:off x="857250" y="857250"/>
            <a:ext cx="17402175" cy="1203884"/>
            <a:chOff x="0" y="0"/>
            <a:chExt cx="23202900" cy="1605178"/>
          </a:xfrm>
        </p:grpSpPr>
        <p:sp>
          <p:nvSpPr>
            <p:cNvPr name="Freeform 12" id="12"/>
            <p:cNvSpPr/>
            <p:nvPr/>
          </p:nvSpPr>
          <p:spPr>
            <a:xfrm flipH="false" flipV="false" rot="0">
              <a:off x="0" y="0"/>
              <a:ext cx="23202900" cy="1605178"/>
            </a:xfrm>
            <a:custGeom>
              <a:avLst/>
              <a:gdLst/>
              <a:ahLst/>
              <a:cxnLst/>
              <a:rect r="r" b="b" t="t" l="l"/>
              <a:pathLst>
                <a:path h="1605178" w="23202900">
                  <a:moveTo>
                    <a:pt x="0" y="0"/>
                  </a:moveTo>
                  <a:lnTo>
                    <a:pt x="23202900" y="0"/>
                  </a:lnTo>
                  <a:lnTo>
                    <a:pt x="23202900" y="1605178"/>
                  </a:lnTo>
                  <a:lnTo>
                    <a:pt x="0" y="1605178"/>
                  </a:lnTo>
                  <a:close/>
                </a:path>
              </a:pathLst>
            </a:custGeom>
            <a:blipFill>
              <a:blip r:embed="rId6">
                <a:alphaModFix amt="0"/>
              </a:blip>
              <a:stretch>
                <a:fillRect l="0" t="-250207" r="0" b="-213106"/>
              </a:stretch>
            </a:blipFill>
          </p:spPr>
        </p:sp>
        <p:sp>
          <p:nvSpPr>
            <p:cNvPr name="TextBox 13" id="13"/>
            <p:cNvSpPr txBox="true"/>
            <p:nvPr/>
          </p:nvSpPr>
          <p:spPr>
            <a:xfrm>
              <a:off x="0" y="-9525"/>
              <a:ext cx="23202900" cy="1614703"/>
            </a:xfrm>
            <a:prstGeom prst="rect">
              <a:avLst/>
            </a:prstGeom>
          </p:spPr>
          <p:txBody>
            <a:bodyPr anchor="ctr" rtlCol="false" tIns="0" lIns="0" bIns="0" rIns="0"/>
            <a:lstStyle/>
            <a:p>
              <a:pPr algn="l">
                <a:lnSpc>
                  <a:spcPts val="6480"/>
                </a:lnSpc>
              </a:pPr>
              <a:r>
                <a:rPr lang="en-US" b="true" sz="5400">
                  <a:solidFill>
                    <a:srgbClr val="1E293B"/>
                  </a:solidFill>
                  <a:latin typeface="Comfortaa Bold"/>
                  <a:ea typeface="Comfortaa Bold"/>
                  <a:cs typeface="Comfortaa Bold"/>
                  <a:sym typeface="Comfortaa Bold"/>
                </a:rPr>
                <a:t>Contracts</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5460180" y="4958549"/>
            <a:ext cx="7367641" cy="1771650"/>
            <a:chOff x="0" y="0"/>
            <a:chExt cx="1940449" cy="466607"/>
          </a:xfrm>
        </p:grpSpPr>
        <p:sp>
          <p:nvSpPr>
            <p:cNvPr name="Freeform 5" id="5"/>
            <p:cNvSpPr/>
            <p:nvPr/>
          </p:nvSpPr>
          <p:spPr>
            <a:xfrm flipH="false" flipV="false" rot="0">
              <a:off x="0" y="0"/>
              <a:ext cx="1940449" cy="466607"/>
            </a:xfrm>
            <a:custGeom>
              <a:avLst/>
              <a:gdLst/>
              <a:ahLst/>
              <a:cxnLst/>
              <a:rect r="r" b="b" t="t" l="l"/>
              <a:pathLst>
                <a:path h="466607" w="1940449">
                  <a:moveTo>
                    <a:pt x="53591" y="0"/>
                  </a:moveTo>
                  <a:lnTo>
                    <a:pt x="1886858" y="0"/>
                  </a:lnTo>
                  <a:cubicBezTo>
                    <a:pt x="1901071" y="0"/>
                    <a:pt x="1914702" y="5646"/>
                    <a:pt x="1924752" y="15696"/>
                  </a:cubicBezTo>
                  <a:cubicBezTo>
                    <a:pt x="1934802" y="25747"/>
                    <a:pt x="1940449" y="39378"/>
                    <a:pt x="1940449" y="53591"/>
                  </a:cubicBezTo>
                  <a:lnTo>
                    <a:pt x="1940449" y="413017"/>
                  </a:lnTo>
                  <a:cubicBezTo>
                    <a:pt x="1940449" y="442614"/>
                    <a:pt x="1916455" y="466607"/>
                    <a:pt x="1886858" y="466607"/>
                  </a:cubicBezTo>
                  <a:lnTo>
                    <a:pt x="53591" y="466607"/>
                  </a:lnTo>
                  <a:cubicBezTo>
                    <a:pt x="39378" y="466607"/>
                    <a:pt x="25747" y="460961"/>
                    <a:pt x="15696" y="450911"/>
                  </a:cubicBezTo>
                  <a:cubicBezTo>
                    <a:pt x="5646" y="440861"/>
                    <a:pt x="0" y="427230"/>
                    <a:pt x="0" y="413017"/>
                  </a:cubicBezTo>
                  <a:lnTo>
                    <a:pt x="0" y="53591"/>
                  </a:lnTo>
                  <a:cubicBezTo>
                    <a:pt x="0" y="39378"/>
                    <a:pt x="5646" y="25747"/>
                    <a:pt x="15696" y="15696"/>
                  </a:cubicBezTo>
                  <a:cubicBezTo>
                    <a:pt x="25747" y="5646"/>
                    <a:pt x="39378" y="0"/>
                    <a:pt x="53591" y="0"/>
                  </a:cubicBezTo>
                  <a:close/>
                </a:path>
              </a:pathLst>
            </a:custGeom>
            <a:solidFill>
              <a:srgbClr val="B9DBF4"/>
            </a:solidFill>
          </p:spPr>
        </p:sp>
        <p:sp>
          <p:nvSpPr>
            <p:cNvPr name="TextBox 6" id="6"/>
            <p:cNvSpPr txBox="true"/>
            <p:nvPr/>
          </p:nvSpPr>
          <p:spPr>
            <a:xfrm>
              <a:off x="0" y="-142875"/>
              <a:ext cx="1940449" cy="609482"/>
            </a:xfrm>
            <a:prstGeom prst="rect">
              <a:avLst/>
            </a:prstGeom>
          </p:spPr>
          <p:txBody>
            <a:bodyPr anchor="ctr" rtlCol="false" tIns="50800" lIns="50800" bIns="50800" rIns="50800"/>
            <a:lstStyle/>
            <a:p>
              <a:pPr algn="ctr">
                <a:lnSpc>
                  <a:spcPts val="4455"/>
                </a:lnSpc>
              </a:pPr>
            </a:p>
          </p:txBody>
        </p:sp>
      </p:grpSp>
      <p:sp>
        <p:nvSpPr>
          <p:cNvPr name="TextBox 7" id="7"/>
          <p:cNvSpPr txBox="true"/>
          <p:nvPr/>
        </p:nvSpPr>
        <p:spPr>
          <a:xfrm rot="0">
            <a:off x="442912" y="3423451"/>
            <a:ext cx="17402175" cy="976312"/>
          </a:xfrm>
          <a:prstGeom prst="rect">
            <a:avLst/>
          </a:prstGeom>
        </p:spPr>
        <p:txBody>
          <a:bodyPr anchor="t" rtlCol="false" tIns="0" lIns="0" bIns="0" rIns="0">
            <a:spAutoFit/>
          </a:bodyPr>
          <a:lstStyle/>
          <a:p>
            <a:pPr algn="ctr">
              <a:lnSpc>
                <a:spcPts val="8100"/>
              </a:lnSpc>
            </a:pPr>
            <a:r>
              <a:rPr lang="en-US" b="true" sz="6750">
                <a:solidFill>
                  <a:srgbClr val="1E293B"/>
                </a:solidFill>
                <a:latin typeface="Comfortaa Bold"/>
                <a:ea typeface="Comfortaa Bold"/>
                <a:cs typeface="Comfortaa Bold"/>
                <a:sym typeface="Comfortaa Bold"/>
              </a:rPr>
              <a:t>Terima Kasih!</a:t>
            </a:r>
          </a:p>
        </p:txBody>
      </p:sp>
      <p:sp>
        <p:nvSpPr>
          <p:cNvPr name="TextBox 8" id="8"/>
          <p:cNvSpPr txBox="true"/>
          <p:nvPr/>
        </p:nvSpPr>
        <p:spPr>
          <a:xfrm rot="0">
            <a:off x="5460180" y="4218788"/>
            <a:ext cx="7367641" cy="655320"/>
          </a:xfrm>
          <a:prstGeom prst="rect">
            <a:avLst/>
          </a:prstGeom>
        </p:spPr>
        <p:txBody>
          <a:bodyPr anchor="t" rtlCol="false" tIns="0" lIns="0" bIns="0" rIns="0">
            <a:spAutoFit/>
          </a:bodyPr>
          <a:lstStyle/>
          <a:p>
            <a:pPr algn="ctr">
              <a:lnSpc>
                <a:spcPts val="5670"/>
              </a:lnSpc>
            </a:pPr>
            <a:r>
              <a:rPr lang="en-US" sz="3150">
                <a:solidFill>
                  <a:srgbClr val="64748B"/>
                </a:solidFill>
                <a:latin typeface="Quicksand"/>
                <a:ea typeface="Quicksand"/>
                <a:cs typeface="Quicksand"/>
                <a:sym typeface="Quicksand"/>
              </a:rPr>
              <a:t>Sesi Tanya Jawab Praktikan &amp; Asisten</a:t>
            </a:r>
          </a:p>
        </p:txBody>
      </p:sp>
      <p:grpSp>
        <p:nvGrpSpPr>
          <p:cNvPr name="Group 9" id="9"/>
          <p:cNvGrpSpPr/>
          <p:nvPr/>
        </p:nvGrpSpPr>
        <p:grpSpPr>
          <a:xfrm rot="0">
            <a:off x="5888580" y="5636322"/>
            <a:ext cx="6510840" cy="416104"/>
            <a:chOff x="0" y="0"/>
            <a:chExt cx="8681121" cy="554805"/>
          </a:xfrm>
        </p:grpSpPr>
        <p:grpSp>
          <p:nvGrpSpPr>
            <p:cNvPr name="Group 10" id="10"/>
            <p:cNvGrpSpPr/>
            <p:nvPr/>
          </p:nvGrpSpPr>
          <p:grpSpPr>
            <a:xfrm rot="0">
              <a:off x="0" y="0"/>
              <a:ext cx="554805" cy="554805"/>
              <a:chOff x="0" y="0"/>
              <a:chExt cx="304800" cy="304800"/>
            </a:xfrm>
          </p:grpSpPr>
          <p:sp>
            <p:nvSpPr>
              <p:cNvPr name="Freeform 11" id="11" descr="image.png"/>
              <p:cNvSpPr/>
              <p:nvPr/>
            </p:nvSpPr>
            <p:spPr>
              <a:xfrm flipH="false" flipV="false" rot="0">
                <a:off x="0" y="0"/>
                <a:ext cx="304800" cy="304800"/>
              </a:xfrm>
              <a:custGeom>
                <a:avLst/>
                <a:gdLst/>
                <a:ahLst/>
                <a:cxnLst/>
                <a:rect r="r" b="b" t="t" l="l"/>
                <a:pathLst>
                  <a:path h="304800" w="304800">
                    <a:moveTo>
                      <a:pt x="0" y="0"/>
                    </a:moveTo>
                    <a:lnTo>
                      <a:pt x="304800" y="0"/>
                    </a:lnTo>
                    <a:lnTo>
                      <a:pt x="304800" y="304800"/>
                    </a:lnTo>
                    <a:lnTo>
                      <a:pt x="0" y="304800"/>
                    </a:lnTo>
                    <a:lnTo>
                      <a:pt x="0" y="0"/>
                    </a:lnTo>
                    <a:close/>
                  </a:path>
                </a:pathLst>
              </a:custGeom>
              <a:blipFill>
                <a:blip r:embed="rId4"/>
                <a:stretch>
                  <a:fillRect l="0" t="0" r="0" b="0"/>
                </a:stretch>
              </a:blipFill>
            </p:spPr>
          </p:sp>
        </p:grpSp>
        <p:sp>
          <p:nvSpPr>
            <p:cNvPr name="TextBox 12" id="12"/>
            <p:cNvSpPr txBox="true"/>
            <p:nvPr/>
          </p:nvSpPr>
          <p:spPr>
            <a:xfrm rot="0">
              <a:off x="554805" y="48267"/>
              <a:ext cx="8126315" cy="448746"/>
            </a:xfrm>
            <a:prstGeom prst="rect">
              <a:avLst/>
            </a:prstGeom>
          </p:spPr>
          <p:txBody>
            <a:bodyPr anchor="t" rtlCol="false" tIns="0" lIns="0" bIns="0" rIns="0">
              <a:spAutoFit/>
            </a:bodyPr>
            <a:lstStyle/>
            <a:p>
              <a:pPr algn="ctr">
                <a:lnSpc>
                  <a:spcPts val="2621"/>
                </a:lnSpc>
              </a:pPr>
              <a:r>
                <a:rPr lang="en-US" b="true" sz="2184" u="sng">
                  <a:solidFill>
                    <a:srgbClr val="1E293B"/>
                  </a:solidFill>
                  <a:latin typeface="Comfortaa Bold"/>
                  <a:ea typeface="Comfortaa Bold"/>
                  <a:cs typeface="Comfortaa Bold"/>
                  <a:sym typeface="Comfortaa Bold"/>
                  <a:hlinkClick r:id="rId5" tooltip="https://github.com/ToriqFathoni/LockIn"/>
                </a:rPr>
                <a:t>https://github.com/ToriqFathoni/LockIn</a:t>
              </a:r>
              <a:r>
                <a:rPr lang="en-US" sz="2184">
                  <a:solidFill>
                    <a:srgbClr val="1E293B"/>
                  </a:solidFill>
                  <a:latin typeface="Comfortaa"/>
                  <a:ea typeface="Comfortaa"/>
                  <a:cs typeface="Comfortaa"/>
                  <a:sym typeface="Comfortaa"/>
                </a:rPr>
                <a:t> </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DAHJ40TR9gY</dc:identifier>
  <dcterms:modified xsi:type="dcterms:W3CDTF">2011-08-01T06:04:30Z</dcterms:modified>
  <cp:revision>1</cp:revision>
  <dc:title>Kelompok 8_PPT.pptx</dc:title>
</cp:coreProperties>
</file>